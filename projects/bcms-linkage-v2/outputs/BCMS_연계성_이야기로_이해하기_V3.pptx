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도입" id="{595924b9-2d35-3177-eb6c-d73bce719757}">
          <p14:sldIdLst>
            <p14:sldId id="256"/>
            <p14:sldId id="257"/>
            <p14:sldId id="258"/>
            <p14:sldId id="259"/>
            <p14:sldId id="260"/>
            <p14:sldId id="261"/>
          </p14:sldIdLst>
        </p14:section>
        <p14:section name="만든 과정" id="{32dacc10-7371-a18f-7e73-4fe1a8515bd9}">
          <p14:sldIdLst>
            <p14:sldId id="262"/>
            <p14:sldId id="263"/>
            <p14:sldId id="264"/>
            <p14:sldId id="265"/>
            <p14:sldId id="266"/>
            <p14:sldId id="267"/>
            <p14:sldId id="268"/>
            <p14:sldId id="269"/>
            <p14:sldId id="270"/>
            <p14:sldId id="271"/>
            <p14:sldId id="272"/>
          </p14:sldIdLst>
        </p14:section>
        <p14:section name="검증과 활용" id="{77441e9a-d4f4-c0d5-3074-d2870c194707}">
          <p14:sldIdLst>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버전에서는 반영·확인·갱신을 없애고, 첨부 문서에서 제안하신 세 개의 층, 곧 객체층, 관계층, 품질층으로 연구를 다시 구성했습니다. 근거는 두 논문 원문에서 검증한 인용과, 아직 원문을 확인하지 못한 외부 문헌으로 나누어 표시합니다.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규정과 절차를 다 갖춘 조직이 많습니다. 문제는 위기가 왔을 때 부서들이 실제로 이어져 움직이느냐입니다. Arias 논문도 체크리스트 방식이 지속 가능한 운영으로 이어지지 않는다고 지적합니다.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BCMS를 릴레이 달리기로 생각하세요. 주자가 프로세스, 바통이 산출물, 바통 전달이 연결입니다. V3에서 연결 품질은 바통 전달이 얼마나 잘 작동하는가입니다. 바통이 앞 주자의 의도와 어긋나지 않았는지, 거슬러 추적할 수 있는지, 전달했다는 증거가 남는지, 책임자가 있는지, 바뀌면 바로 반영되는지, 문제가 끝까지 고쳐지는지를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첨부 문서의 핵심 제안은 세 개의 층으로 나누는 것입니다. 객체층은 무엇과 무엇을 연결하는가, 관계층은 어떤 방식으로 연결되는가, 품질층은 그 연결이 얼마나 잘 작동하는가입니다. 문항은 객체쌍, 관계동사, 품질조건을 한 문장에 담습니다. 층을 나누면 논리와 측정이 분명해집니다.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여섯 가지 용어입니다. 파란 표시는 논문에서 가져온 개념, 주황 표시는 연구자 정의입니다. 연결 품질과 6개 차원은 연구자께서 제시하신 초기 가설이므로 박사논문에서 직접 확정하셔야 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Arias는 프로세스와 연결의 단서를, Białas는 관계를 정의하는 방법을 줍니다. 품질 차원은 두 논문에 직접 근거가 부족한 부분이 있어서 외부 문헌 후보를 찾았습니다. 다만 이 환경에서는 외부 문헌 원문을 열람할 수 없어 서지만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네 걸음입니다. 첫째 Arias 문장에서 연결 근거를 찾고, 둘째 객체와 관계를 정의하고, 셋째 연결의 품질을 6개 차원의 문항으로 만들고, 넷째 검증합니다.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Arias 15쪽에 요구사항이 BIA, 리스크평가, 내부감사, 공급망관리에 정보를 제공한다는 문장이 있습니다. 왼쪽은 논문 원문이고 오른쪽은 제가 얹은 해석입니다. 이 문장에서 연결 네 개가 나옵니다. 관계동사는 inform, 곧 입력된다입니다.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온톨로지 맵입니다. 22개 주자가 다섯 구역에 있고 31개 연결이 선으로 그려져 있습니다. 실선은 논문이 직접 말한 연결, 파선은 일부를 보완한 연결, 빨간 점선은 논문에 없는 가설입니다.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관계층은 연결의 의미, 곧 동사입니다. Arias 서술문에서 동사를 뽑았습니다. 첨부 문서의 동사 중 일치한다, 추적된다, 기록·증빙된다는 품질층의 정합성·추적성·증빙성과 겹쳐서 품질층으로 옮겼습니다. 같은 개념을 두 번 재면 점수가 이중으로 잡히기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첨부 문서가 제안한 여섯 차원입니다. 각 차원은 한 문장 질문으로 정리됩니다. 환류폐쇄성은 훈련·평가·사고 결과가 되돌아가는 연결 8개에만 적용합니다.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솔직한 점검 결과입니다. 두 논문 안의 근거를 보면 환류폐쇄성은 비교적 직접적이고, 정합성·증빙성·책임성·최신성은 간접적이며, 추적성은 두 논문에 아예 없습니다. 외부 문헌 후보는 모든 차원에 있지만, 원문을 열람하지 못해 서지만 확인했습니다. 연구자께서 원문에서 정의를 확인하셔야 근거로 확정됩니다.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연결의 증거유형입니다. 31개 중 26개는 논문이 직접 말한 연결, 2개는 출발이나 도착을 보완한 연결, 3개는 논문에 없는 가정입니다. 엑셀에서 파란 열은 논문 인용, 빨간 열은 연구자 의견입니다. Arias와 Białas 인용문 72개는 PDF 원문과 프로그램으로 대조해 모두 일치했습니다.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문항은 세 재료를 합쳐 만듭니다. 요구사항에서 BIA로 가는 연결을 보면, 객체쌍과 관계동사가 앞부분 문장이 되고, 품질조건이 뒷부분이 됩니다. 이 연결은 5개 차원 문항 5개가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연습 결과가 계획 수정으로 이어지는 연결을 끝까지 따라갑니다. 인용에서 시작해 인용이 확립하는 사실, 제 해석, 최종 문항으로 이어집니다. 이 연결은 환류 연결이라 환류폐쇄성 문항까지 6개가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31개 중 5개는 논문만으로는 근거가 부족합니다. 두 개는 출발이나 도착을 보완했고, 세 개는 논문에 서술이 없습니다. 전문가 검증에서 가장 먼저 심사하고, 합의가 80퍼센트 미만이면 삭제합니다.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연구자 의견을 구하셨기에 제 판단을 말씀드립니다. 3층 모형은 V2의 반영·확인·갱신보다 논리가 분명합니다. 반영·확인·갱신은 단계와 활동이 섞여 있었지만 6개 차원은 서로 다른 성질을 묻습니다. 다만 조심할 점이 네 가지 있습니다. 문항 수, 차원 간 겹침, 추적성의 근거 부족, 환류폐쇄성의 제한적 적용입니다.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검증 순서가 한 단계 늘었습니다. 먼저 외부 문헌 원문을 연구자께서 확인하셔야 합니다. 그 다음 전문가 평가, 인지면담, 예비조사 순입니다. 예비조사에서는 특히 차원들이 서로 구분되는지, 곧 차원 간 상관이 0.85를 넘지 않는지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엑셀은 20개 시트지만 세 묶음으로 나누면 간단합니다. 읽는 시트는 근거와 정의가 들어 있어 공부용입니다. 쓰는 시트는 외부 문헌 확인 결과, 전문가 평가, 설문 응답을 직접 입력합니다. 계산 시트는 자동입니다.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엑셀은 처음부터 읽지 마세요. 안내에서 규칙을 확인하고, 품질차원 시트에서 근거 강도를 보고, 학술근거 시트에서 확인할 일을 파악한 다음, 연결 하나를 끝까지 따라가고 문항을 읽는 순서입니다.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연구자께서 직접 결정하실 일입니다. 특히 첫째, 외부 문헌 원문 확인은 저희가 대신할 수 없습니다. 이것이 끝나야 품질 차원의 학술 근거가 확정됩니다.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정리하면, 연결 품질은 객체층, 관계층, 품질층의 세 층으로 구성되고 품질층은 여섯 차원입니다. 다음 단계는 외부 문헌 원문 확인과 연구자 정의 확정, 전문가 평가, 인지면담, 예비조사입니다.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15600" cy="17373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822960" y="3749040"/>
            <a:ext cx="10515600" cy="1188720"/>
          </a:xfrm>
          <a:prstGeom prst="rect">
            <a:avLst/>
          </a:prstGeom>
          <a:noFill/>
          <a:ln/>
        </p:spPr>
        <p:txBody>
          <a:bodyPr wrap="square" rtlCol="0"/>
          <a:lstStyle>
            <a:lvl1pPr indent="0" marL="0">
              <a:buNone/>
              <a:defRPr lang="en-US" sz="2100" dirty="0">
                <a:solidFill>
                  <a:srgbClr val="CADCFC"/>
                </a:solidFill>
              </a:defRPr>
            </a:lvl1pPr>
          </a:lstStyle>
          <a:p>
            <a:pPr indent="0" marL="0">
              <a:buNone/>
            </a:pPr>
            <a:endParaRPr lang="en-US" sz="21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BCMS 프로세스 연결 품질 · 이야기로 이해하기 (V3)</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137160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4.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1828800"/>
            <a:ext cx="10515600" cy="1737360"/>
          </a:xfrm>
          <a:prstGeom prst="rect">
            <a:avLst/>
          </a:prstGeom>
          <a:noFill/>
          <a:ln/>
        </p:spPr>
        <p:txBody>
          <a:bodyPr wrap="square" lIns="0" tIns="0" rIns="0" bIns="0" rtlCol="0" anchor="ctr"/>
          <a:lstStyle/>
          <a:p>
            <a:pPr algn="l" indent="0" marL="0">
              <a:buNone/>
            </a:pPr>
            <a:r>
              <a:rPr lang="en-US" sz="4400" b="1" dirty="0">
                <a:solidFill>
                  <a:schemeClr val="bg1"/>
                </a:solidFill>
              </a:rPr>
              <a:t>BCMS 프로세스 연결 품질,</a:t>
            </a:r>
            <a:endParaRPr lang="en-US" sz="4400" dirty="0"/>
          </a:p>
          <a:p>
            <a:pPr algn="l" indent="0" marL="0">
              <a:buNone/>
            </a:pPr>
            <a:r>
              <a:rPr lang="en-US" sz="4400" b="1" dirty="0">
                <a:solidFill>
                  <a:schemeClr val="bg1"/>
                </a:solidFill>
              </a:rPr>
              <a:t>이야기로 이해하기</a:t>
            </a:r>
            <a:endParaRPr lang="en-US" sz="4400" dirty="0"/>
          </a:p>
        </p:txBody>
      </p:sp>
      <p:sp>
        <p:nvSpPr>
          <p:cNvPr id="3" name="Text 0"/>
          <p:cNvSpPr/>
          <p:nvPr>
            <p:ph idx="101" type="body" hasCustomPrompt="1"/>
          </p:nvPr>
        </p:nvSpPr>
        <p:spPr>
          <a:xfrm>
            <a:off x="822960" y="3749040"/>
            <a:ext cx="10515600" cy="1188720"/>
          </a:xfrm>
          <a:prstGeom prst="rect">
            <a:avLst/>
          </a:prstGeom>
          <a:noFill/>
          <a:ln/>
        </p:spPr>
        <p:txBody>
          <a:bodyPr wrap="square" lIns="0" tIns="0" rIns="0" bIns="0" rtlCol="0" anchor="t"/>
          <a:lstStyle/>
          <a:p>
            <a:pPr indent="0" marL="0">
              <a:buNone/>
            </a:pPr>
            <a:r>
              <a:rPr lang="en-US" sz="2100" dirty="0">
                <a:solidFill>
                  <a:srgbClr val="CADCFC"/>
                </a:solidFill>
              </a:rPr>
              <a:t>객체층 · 관계층 · 품질층(6개 차원)으로 읽는 문항 개발 (V3)</a:t>
            </a:r>
            <a:endParaRPr lang="en-US" sz="2100" dirty="0"/>
          </a:p>
          <a:p>
            <a:pPr indent="0" marL="0">
              <a:buNone/>
            </a:pPr>
            <a:r>
              <a:rPr lang="en-US" sz="2100" dirty="0">
                <a:solidFill>
                  <a:srgbClr val="CADCFC"/>
                </a:solidFill>
              </a:rPr>
              <a:t>박사논문 프로젝트 · 근거: Arias(2026), Białas(2010) + 외부 문헌 후보</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이 연구가 묻는 것</a:t>
            </a:r>
            <a:endParaRPr lang="en-US" sz="3200" dirty="0"/>
          </a:p>
        </p:txBody>
      </p:sp>
      <p:sp>
        <p:nvSpPr>
          <p:cNvPr id="4" name="question"/>
          <p:cNvSpPr/>
          <p:nvPr/>
        </p:nvSpPr>
        <p:spPr>
          <a:xfrm>
            <a:off x="548640" y="1463040"/>
            <a:ext cx="5486400" cy="4297680"/>
          </a:xfrm>
          <a:prstGeom prst="roundRect">
            <a:avLst>
              <a:gd name="adj" fmla="val 2553"/>
            </a:avLst>
          </a:prstGeom>
          <a:solidFill>
            <a:schemeClr val="tx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1005840" y="1920240"/>
            <a:ext cx="4572000" cy="2194560"/>
          </a:xfrm>
          <a:prstGeom prst="rect">
            <a:avLst/>
          </a:prstGeom>
          <a:noFill/>
          <a:ln/>
        </p:spPr>
        <p:txBody>
          <a:bodyPr wrap="square" lIns="0" tIns="0" rIns="0" bIns="0" rtlCol="0" anchor="ctr"/>
          <a:lstStyle/>
          <a:p>
            <a:pPr indent="0" marL="0">
              <a:buNone/>
            </a:pPr>
            <a:r>
              <a:rPr lang="en-US" sz="3200" b="1" dirty="0">
                <a:solidFill>
                  <a:schemeClr val="bg1"/>
                </a:solidFill>
              </a:rPr>
              <a:t>규정은 다 갖췄는데,</a:t>
            </a:r>
            <a:endParaRPr lang="en-US" sz="3200" dirty="0"/>
          </a:p>
          <a:p>
            <a:pPr indent="0" marL="0">
              <a:buNone/>
            </a:pPr>
            <a:r>
              <a:rPr lang="en-US" sz="3200" b="1" dirty="0">
                <a:solidFill>
                  <a:schemeClr val="bg1"/>
                </a:solidFill>
              </a:rPr>
              <a:t>위기 때 부서들은</a:t>
            </a:r>
            <a:endParaRPr lang="en-US" sz="3200" dirty="0"/>
          </a:p>
          <a:p>
            <a:pPr indent="0" marL="0">
              <a:buNone/>
            </a:pPr>
            <a:r>
              <a:rPr lang="en-US" sz="3200" b="1" dirty="0">
                <a:solidFill>
                  <a:schemeClr val="bg1"/>
                </a:solidFill>
              </a:rPr>
              <a:t>정말 이어질까?</a:t>
            </a:r>
            <a:endParaRPr lang="en-US" sz="3200" dirty="0"/>
          </a:p>
        </p:txBody>
      </p:sp>
      <p:sp>
        <p:nvSpPr>
          <p:cNvPr id="6" name="Text 3"/>
          <p:cNvSpPr txBox="1"/>
          <p:nvPr/>
        </p:nvSpPr>
        <p:spPr>
          <a:xfrm>
            <a:off x="1005840" y="4297680"/>
            <a:ext cx="4572000" cy="1097280"/>
          </a:xfrm>
          <a:prstGeom prst="rect">
            <a:avLst/>
          </a:prstGeom>
          <a:noFill/>
          <a:ln/>
        </p:spPr>
        <p:txBody>
          <a:bodyPr wrap="square" lIns="0" tIns="0" rIns="0" bIns="0" rtlCol="0" anchor="t"/>
          <a:lstStyle/>
          <a:p>
            <a:pPr indent="0" marL="0">
              <a:buNone/>
            </a:pPr>
            <a:r>
              <a:rPr lang="en-US" sz="1800" dirty="0">
                <a:solidFill>
                  <a:srgbClr val="CADCFC"/>
                </a:solidFill>
              </a:rPr>
              <a:t>그래서 "있는가"가 아니라</a:t>
            </a:r>
            <a:endParaRPr lang="en-US" sz="1800" dirty="0"/>
          </a:p>
          <a:p>
            <a:pPr indent="0" marL="0">
              <a:buNone/>
            </a:pPr>
            <a:r>
              <a:rPr lang="en-US" sz="1800" dirty="0">
                <a:solidFill>
                  <a:srgbClr val="CADCFC"/>
                </a:solidFill>
              </a:rPr>
              <a:t>"얼마나 잘 이어져 작동하는가"를 잽니다.</a:t>
            </a:r>
            <a:endParaRPr lang="en-US" sz="1800" dirty="0"/>
          </a:p>
        </p:txBody>
      </p:sp>
      <p:sp>
        <p:nvSpPr>
          <p:cNvPr id="7" name="quote"/>
          <p:cNvSpPr/>
          <p:nvPr/>
        </p:nvSpPr>
        <p:spPr>
          <a:xfrm>
            <a:off x="6400800" y="1463040"/>
            <a:ext cx="5239512" cy="4297680"/>
          </a:xfrm>
          <a:prstGeom prst="roundRect">
            <a:avLst>
              <a:gd name="adj" fmla="val 25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8" name="chip"/>
          <p:cNvSpPr/>
          <p:nvPr/>
        </p:nvSpPr>
        <p:spPr>
          <a:xfrm>
            <a:off x="6675120" y="1737360"/>
            <a:ext cx="1737360" cy="310896"/>
          </a:xfrm>
          <a:prstGeom prst="roundRect">
            <a:avLst>
              <a:gd name="adj" fmla="val 50000"/>
            </a:avLst>
          </a:prstGeom>
          <a:solidFill>
            <a:srgbClr val="1F6F8B"/>
          </a:solidFill>
          <a:ln w="6350">
            <a:solidFill>
              <a:srgbClr val="1F6F8B"/>
            </a:solidFill>
            <a:prstDash val="solid"/>
          </a:ln>
        </p:spPr>
      </p:sp>
      <p:sp>
        <p:nvSpPr>
          <p:cNvPr id="9" name="Text 6"/>
          <p:cNvSpPr txBox="1"/>
          <p:nvPr/>
        </p:nvSpPr>
        <p:spPr>
          <a:xfrm>
            <a:off x="6675120" y="1737360"/>
            <a:ext cx="173736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 Arias p.2</a:t>
            </a:r>
            <a:endParaRPr lang="en-US" sz="1200" dirty="0"/>
          </a:p>
        </p:txBody>
      </p:sp>
      <p:sp>
        <p:nvSpPr>
          <p:cNvPr id="10" name="Text 7"/>
          <p:cNvSpPr txBox="1"/>
          <p:nvPr/>
        </p:nvSpPr>
        <p:spPr>
          <a:xfrm>
            <a:off x="6675120" y="2240280"/>
            <a:ext cx="4709160" cy="2103120"/>
          </a:xfrm>
          <a:prstGeom prst="rect">
            <a:avLst/>
          </a:prstGeom>
          <a:noFill/>
          <a:ln/>
        </p:spPr>
        <p:txBody>
          <a:bodyPr wrap="square" lIns="0" tIns="0" rIns="0" bIns="0" rtlCol="0" anchor="t"/>
          <a:lstStyle/>
          <a:p>
            <a:pPr indent="0" marL="0">
              <a:buNone/>
            </a:pPr>
            <a:r>
              <a:rPr lang="en-US" sz="1800" i="1" dirty="0">
                <a:solidFill>
                  <a:schemeClr val="tx1"/>
                </a:solidFill>
              </a:rPr>
              <a:t>"Organizations often struggle with performing a checklist approach regarding the BCMS requirements because it does not necessarily lead to a sustainable operated management system."</a:t>
            </a:r>
            <a:endParaRPr lang="en-US" sz="1800" dirty="0"/>
          </a:p>
        </p:txBody>
      </p:sp>
      <p:sp>
        <p:nvSpPr>
          <p:cNvPr id="11" name="Text 8"/>
          <p:cNvSpPr txBox="1"/>
          <p:nvPr/>
        </p:nvSpPr>
        <p:spPr>
          <a:xfrm>
            <a:off x="6675120" y="4343400"/>
            <a:ext cx="4709160" cy="1280160"/>
          </a:xfrm>
          <a:prstGeom prst="rect">
            <a:avLst/>
          </a:prstGeom>
          <a:noFill/>
          <a:ln/>
        </p:spPr>
        <p:txBody>
          <a:bodyPr wrap="square" lIns="0" tIns="0" rIns="0" bIns="0" rtlCol="0" anchor="t"/>
          <a:lstStyle/>
          <a:p>
            <a:pPr indent="0" marL="0">
              <a:buNone/>
            </a:pPr>
            <a:r>
              <a:rPr lang="en-US" sz="1500" dirty="0">
                <a:solidFill>
                  <a:schemeClr val="accent6"/>
                </a:solidFill>
              </a:rPr>
              <a:t>조직은 BCMS 요구사항에 대해 체크리스트 방식을 수행하는 데 종종 어려움을 겪는데, 이는 지속 가능하게 운영되는 경영시스템으로 반드시 이어지지 않기 때문이다.</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릴레이 바통 이야기</a:t>
            </a:r>
            <a:endParaRPr lang="en-US" sz="3200" dirty="0"/>
          </a:p>
        </p:txBody>
      </p:sp>
      <p:sp>
        <p:nvSpPr>
          <p:cNvPr id="4" name="relay0"/>
          <p:cNvSpPr/>
          <p:nvPr/>
        </p:nvSpPr>
        <p:spPr>
          <a:xfrm>
            <a:off x="548640" y="1463040"/>
            <a:ext cx="3593592" cy="3017520"/>
          </a:xfrm>
          <a:prstGeom prst="roundRect">
            <a:avLst>
              <a:gd name="adj" fmla="val 363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5" name="Image 0" descr="주자 = 프로세스">    </p:cNvPr>
          <p:cNvPicPr>
            <a:picLocks noChangeAspect="1"/>
          </p:cNvPicPr>
          <p:nvPr/>
        </p:nvPicPr>
        <p:blipFill>
          <a:blip r:embed="rId1"/>
          <a:stretch>
            <a:fillRect/>
          </a:stretch>
        </p:blipFill>
        <p:spPr>
          <a:xfrm>
            <a:off x="868680" y="1691640"/>
            <a:ext cx="640080" cy="640080"/>
          </a:xfrm>
          <a:prstGeom prst="rect">
            <a:avLst/>
          </a:prstGeom>
        </p:spPr>
      </p:pic>
      <p:sp>
        <p:nvSpPr>
          <p:cNvPr id="6" name="Text 2"/>
          <p:cNvSpPr txBox="1"/>
          <p:nvPr/>
        </p:nvSpPr>
        <p:spPr>
          <a:xfrm>
            <a:off x="868680" y="24688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주자 = 프로세스</a:t>
            </a:r>
            <a:endParaRPr lang="en-US" sz="2200" dirty="0"/>
          </a:p>
        </p:txBody>
      </p:sp>
      <p:sp>
        <p:nvSpPr>
          <p:cNvPr id="7" name="Text 3"/>
          <p:cNvSpPr txBox="1"/>
          <p:nvPr/>
        </p:nvSpPr>
        <p:spPr>
          <a:xfrm>
            <a:off x="868680" y="297180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22개</a:t>
            </a:r>
            <a:endParaRPr lang="en-US" sz="1800" dirty="0"/>
          </a:p>
        </p:txBody>
      </p:sp>
      <p:sp>
        <p:nvSpPr>
          <p:cNvPr id="8" name="Text 4"/>
          <p:cNvSpPr txBox="1"/>
          <p:nvPr/>
        </p:nvSpPr>
        <p:spPr>
          <a:xfrm>
            <a:off x="868680" y="3474720"/>
            <a:ext cx="3017520" cy="914400"/>
          </a:xfrm>
          <a:prstGeom prst="rect">
            <a:avLst/>
          </a:prstGeom>
          <a:noFill/>
          <a:ln/>
        </p:spPr>
        <p:txBody>
          <a:bodyPr wrap="square" lIns="0" tIns="0" rIns="0" bIns="0" rtlCol="0" anchor="t"/>
          <a:lstStyle/>
          <a:p>
            <a:pPr indent="0" marL="0">
              <a:buNone/>
            </a:pPr>
            <a:r>
              <a:rPr lang="en-US" sz="1600" dirty="0">
                <a:solidFill>
                  <a:schemeClr val="tx1"/>
                </a:solidFill>
              </a:rPr>
              <a:t>요구사항관리, BIA, 리스크평가, 복구…</a:t>
            </a:r>
            <a:endParaRPr lang="en-US" sz="1600" dirty="0"/>
          </a:p>
          <a:p>
            <a:pPr indent="0" marL="0">
              <a:buNone/>
            </a:pPr>
            <a:r>
              <a:rPr lang="en-US" sz="1600" dirty="0">
                <a:solidFill>
                  <a:schemeClr val="tx1"/>
                </a:solidFill>
              </a:rPr>
              <a:t>각자 맡은 구간이 있다</a:t>
            </a:r>
            <a:endParaRPr lang="en-US" sz="1600" dirty="0"/>
          </a:p>
        </p:txBody>
      </p:sp>
      <p:sp>
        <p:nvSpPr>
          <p:cNvPr id="9" name="relay1"/>
          <p:cNvSpPr/>
          <p:nvPr/>
        </p:nvSpPr>
        <p:spPr>
          <a:xfrm>
            <a:off x="4297680" y="1463040"/>
            <a:ext cx="3593592" cy="3017520"/>
          </a:xfrm>
          <a:prstGeom prst="roundRect">
            <a:avLst>
              <a:gd name="adj" fmla="val 363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0" name="Image 1" descr="바통 = 산출물">    </p:cNvPr>
          <p:cNvPicPr>
            <a:picLocks noChangeAspect="1"/>
          </p:cNvPicPr>
          <p:nvPr/>
        </p:nvPicPr>
        <p:blipFill>
          <a:blip r:embed="rId2"/>
          <a:stretch>
            <a:fillRect/>
          </a:stretch>
        </p:blipFill>
        <p:spPr>
          <a:xfrm>
            <a:off x="4617720" y="1691640"/>
            <a:ext cx="640080" cy="640080"/>
          </a:xfrm>
          <a:prstGeom prst="rect">
            <a:avLst/>
          </a:prstGeom>
        </p:spPr>
      </p:pic>
      <p:sp>
        <p:nvSpPr>
          <p:cNvPr id="11" name="Text 6"/>
          <p:cNvSpPr txBox="1"/>
          <p:nvPr/>
        </p:nvSpPr>
        <p:spPr>
          <a:xfrm>
            <a:off x="4617720" y="24688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바통 = 산출물</a:t>
            </a:r>
            <a:endParaRPr lang="en-US" sz="2200" dirty="0"/>
          </a:p>
        </p:txBody>
      </p:sp>
      <p:sp>
        <p:nvSpPr>
          <p:cNvPr id="12" name="Text 7"/>
          <p:cNvSpPr txBox="1"/>
          <p:nvPr/>
        </p:nvSpPr>
        <p:spPr>
          <a:xfrm>
            <a:off x="4617720" y="297180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문서·기록·결정</a:t>
            </a:r>
            <a:endParaRPr lang="en-US" sz="1800" dirty="0"/>
          </a:p>
        </p:txBody>
      </p:sp>
      <p:sp>
        <p:nvSpPr>
          <p:cNvPr id="13" name="Text 8"/>
          <p:cNvSpPr txBox="1"/>
          <p:nvPr/>
        </p:nvSpPr>
        <p:spPr>
          <a:xfrm>
            <a:off x="4617720" y="3474720"/>
            <a:ext cx="3017520" cy="914400"/>
          </a:xfrm>
          <a:prstGeom prst="rect">
            <a:avLst/>
          </a:prstGeom>
          <a:noFill/>
          <a:ln/>
        </p:spPr>
        <p:txBody>
          <a:bodyPr wrap="square" lIns="0" tIns="0" rIns="0" bIns="0" rtlCol="0" anchor="t"/>
          <a:lstStyle/>
          <a:p>
            <a:pPr indent="0" marL="0">
              <a:buNone/>
            </a:pPr>
            <a:r>
              <a:rPr lang="en-US" sz="1600" dirty="0">
                <a:solidFill>
                  <a:schemeClr val="tx1"/>
                </a:solidFill>
              </a:rPr>
              <a:t>BIA 결과, 리스크 목록, 계획서처럼</a:t>
            </a:r>
            <a:endParaRPr lang="en-US" sz="1600" dirty="0"/>
          </a:p>
          <a:p>
            <a:pPr indent="0" marL="0">
              <a:buNone/>
            </a:pPr>
            <a:r>
              <a:rPr lang="en-US" sz="1600" dirty="0">
                <a:solidFill>
                  <a:schemeClr val="tx1"/>
                </a:solidFill>
              </a:rPr>
              <a:t>다음 주자에게 넘기는 것</a:t>
            </a:r>
            <a:endParaRPr lang="en-US" sz="1600" dirty="0"/>
          </a:p>
        </p:txBody>
      </p:sp>
      <p:sp>
        <p:nvSpPr>
          <p:cNvPr id="14" name="relay2"/>
          <p:cNvSpPr/>
          <p:nvPr/>
        </p:nvSpPr>
        <p:spPr>
          <a:xfrm>
            <a:off x="8046720" y="1463040"/>
            <a:ext cx="3593592" cy="3017520"/>
          </a:xfrm>
          <a:prstGeom prst="roundRect">
            <a:avLst>
              <a:gd name="adj" fmla="val 363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5" name="Image 2" descr="전달 = 연결">    </p:cNvPr>
          <p:cNvPicPr>
            <a:picLocks noChangeAspect="1"/>
          </p:cNvPicPr>
          <p:nvPr/>
        </p:nvPicPr>
        <p:blipFill>
          <a:blip r:embed="rId3"/>
          <a:stretch>
            <a:fillRect/>
          </a:stretch>
        </p:blipFill>
        <p:spPr>
          <a:xfrm>
            <a:off x="8366760" y="1691640"/>
            <a:ext cx="640080" cy="640080"/>
          </a:xfrm>
          <a:prstGeom prst="rect">
            <a:avLst/>
          </a:prstGeom>
        </p:spPr>
      </p:pic>
      <p:sp>
        <p:nvSpPr>
          <p:cNvPr id="16" name="Text 10"/>
          <p:cNvSpPr txBox="1"/>
          <p:nvPr/>
        </p:nvSpPr>
        <p:spPr>
          <a:xfrm>
            <a:off x="8366760" y="2468880"/>
            <a:ext cx="3017520" cy="457200"/>
          </a:xfrm>
          <a:prstGeom prst="rect">
            <a:avLst/>
          </a:prstGeom>
          <a:noFill/>
          <a:ln/>
        </p:spPr>
        <p:txBody>
          <a:bodyPr wrap="square" lIns="0" tIns="0" rIns="0" bIns="0" rtlCol="0" anchor="t"/>
          <a:lstStyle/>
          <a:p>
            <a:pPr indent="0" marL="0">
              <a:buNone/>
            </a:pPr>
            <a:r>
              <a:rPr lang="en-US" sz="2200" b="1" dirty="0">
                <a:solidFill>
                  <a:schemeClr val="tx2"/>
                </a:solidFill>
              </a:rPr>
              <a:t>전달 = 연결</a:t>
            </a:r>
            <a:endParaRPr lang="en-US" sz="2200" dirty="0"/>
          </a:p>
        </p:txBody>
      </p:sp>
      <p:sp>
        <p:nvSpPr>
          <p:cNvPr id="17" name="Text 11"/>
          <p:cNvSpPr txBox="1"/>
          <p:nvPr/>
        </p:nvSpPr>
        <p:spPr>
          <a:xfrm>
            <a:off x="8366760" y="2971800"/>
            <a:ext cx="3017520" cy="457200"/>
          </a:xfrm>
          <a:prstGeom prst="rect">
            <a:avLst/>
          </a:prstGeom>
          <a:noFill/>
          <a:ln/>
        </p:spPr>
        <p:txBody>
          <a:bodyPr wrap="square" lIns="0" tIns="0" rIns="0" bIns="0" rtlCol="0" anchor="t"/>
          <a:lstStyle/>
          <a:p>
            <a:pPr indent="0" marL="0">
              <a:buNone/>
            </a:pPr>
            <a:r>
              <a:rPr lang="en-US" sz="1800" b="1" dirty="0">
                <a:solidFill>
                  <a:schemeClr val="accent1"/>
                </a:solidFill>
              </a:rPr>
              <a:t>31개</a:t>
            </a:r>
            <a:endParaRPr lang="en-US" sz="1800" dirty="0"/>
          </a:p>
        </p:txBody>
      </p:sp>
      <p:sp>
        <p:nvSpPr>
          <p:cNvPr id="18" name="Text 12"/>
          <p:cNvSpPr txBox="1"/>
          <p:nvPr/>
        </p:nvSpPr>
        <p:spPr>
          <a:xfrm>
            <a:off x="8366760" y="3474720"/>
            <a:ext cx="3017520" cy="914400"/>
          </a:xfrm>
          <a:prstGeom prst="rect">
            <a:avLst/>
          </a:prstGeom>
          <a:noFill/>
          <a:ln/>
        </p:spPr>
        <p:txBody>
          <a:bodyPr wrap="square" lIns="0" tIns="0" rIns="0" bIns="0" rtlCol="0" anchor="t"/>
          <a:lstStyle/>
          <a:p>
            <a:pPr indent="0" marL="0">
              <a:buNone/>
            </a:pPr>
            <a:r>
              <a:rPr lang="en-US" sz="1600" dirty="0">
                <a:solidFill>
                  <a:schemeClr val="tx1"/>
                </a:solidFill>
              </a:rPr>
              <a:t>누가 누구에게 바통을 넘기는가</a:t>
            </a:r>
            <a:endParaRPr lang="en-US" sz="1600" dirty="0"/>
          </a:p>
          <a:p>
            <a:pPr indent="0" marL="0">
              <a:buNone/>
            </a:pPr>
            <a:r>
              <a:rPr lang="en-US" sz="1600" dirty="0">
                <a:solidFill>
                  <a:schemeClr val="tx1"/>
                </a:solidFill>
              </a:rPr>
              <a:t>(출발 → 도착 한 쌍)</a:t>
            </a:r>
            <a:endParaRPr lang="en-US" sz="1600" dirty="0"/>
          </a:p>
        </p:txBody>
      </p:sp>
      <p:sp>
        <p:nvSpPr>
          <p:cNvPr id="19" name="banner"/>
          <p:cNvSpPr/>
          <p:nvPr/>
        </p:nvSpPr>
        <p:spPr>
          <a:xfrm>
            <a:off x="548640" y="4754880"/>
            <a:ext cx="11091672" cy="1371600"/>
          </a:xfrm>
          <a:prstGeom prst="roundRect">
            <a:avLst>
              <a:gd name="adj" fmla="val 8000"/>
            </a:avLst>
          </a:prstGeom>
          <a:solidFill>
            <a:schemeClr val="accent1"/>
          </a:solidFill>
          <a:ln w="6350">
            <a:solidFill>
              <a:schemeClr val="accent1"/>
            </a:solidFill>
            <a:prstDash val="solid"/>
          </a:ln>
        </p:spPr>
      </p:sp>
      <p:sp>
        <p:nvSpPr>
          <p:cNvPr id="20" name="Text 14"/>
          <p:cNvSpPr txBox="1"/>
          <p:nvPr/>
        </p:nvSpPr>
        <p:spPr>
          <a:xfrm>
            <a:off x="914400" y="4846320"/>
            <a:ext cx="10360152" cy="548640"/>
          </a:xfrm>
          <a:prstGeom prst="rect">
            <a:avLst/>
          </a:prstGeom>
          <a:noFill/>
          <a:ln/>
        </p:spPr>
        <p:txBody>
          <a:bodyPr wrap="square" lIns="0" tIns="0" rIns="0" bIns="0" rtlCol="0" anchor="ctr"/>
          <a:lstStyle/>
          <a:p>
            <a:pPr algn="ctr" indent="0" marL="0">
              <a:buNone/>
            </a:pPr>
            <a:r>
              <a:rPr lang="en-US" sz="2400" b="1" dirty="0">
                <a:solidFill>
                  <a:schemeClr val="bg1"/>
                </a:solidFill>
              </a:rPr>
              <a:t>연결 품질 = 바통 전달이 얼마나 잘 작동하는가</a:t>
            </a:r>
            <a:endParaRPr lang="en-US" sz="2400" dirty="0"/>
          </a:p>
        </p:txBody>
      </p:sp>
      <p:sp>
        <p:nvSpPr>
          <p:cNvPr id="21" name="Text 15"/>
          <p:cNvSpPr txBox="1"/>
          <p:nvPr/>
        </p:nvSpPr>
        <p:spPr>
          <a:xfrm>
            <a:off x="914400" y="5440680"/>
            <a:ext cx="10360152" cy="548640"/>
          </a:xfrm>
          <a:prstGeom prst="rect">
            <a:avLst/>
          </a:prstGeom>
          <a:noFill/>
          <a:ln/>
        </p:spPr>
        <p:txBody>
          <a:bodyPr wrap="square" lIns="0" tIns="0" rIns="0" bIns="0" rtlCol="0" anchor="ctr"/>
          <a:lstStyle/>
          <a:p>
            <a:pPr algn="ctr" indent="0" marL="0">
              <a:buNone/>
            </a:pPr>
            <a:r>
              <a:rPr lang="en-US" sz="1600" dirty="0">
                <a:solidFill>
                  <a:schemeClr val="bg1"/>
                </a:solidFill>
              </a:rPr>
              <a:t>일치하는가 · 거슬러 찾을 수 있는가 · 증거가 남는가 · 책임자가 있는가 · 바로 반영되는가 · 끝까지 고쳐지는가</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3층 모형</a:t>
            </a:r>
            <a:endParaRPr lang="en-US" sz="3200" dirty="0"/>
          </a:p>
        </p:txBody>
      </p:sp>
      <p:sp>
        <p:nvSpPr>
          <p:cNvPr id="4" name="layer0"/>
          <p:cNvSpPr/>
          <p:nvPr/>
        </p:nvSpPr>
        <p:spPr>
          <a:xfrm>
            <a:off x="548640" y="1417320"/>
            <a:ext cx="3593592" cy="3429000"/>
          </a:xfrm>
          <a:prstGeom prst="roundRect">
            <a:avLst>
              <a:gd name="adj" fmla="val 32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5" name="Image 0" descr="객체층">    </p:cNvPr>
          <p:cNvPicPr>
            <a:picLocks noChangeAspect="1"/>
          </p:cNvPicPr>
          <p:nvPr/>
        </p:nvPicPr>
        <p:blipFill>
          <a:blip r:embed="rId1"/>
          <a:stretch>
            <a:fillRect/>
          </a:stretch>
        </p:blipFill>
        <p:spPr>
          <a:xfrm>
            <a:off x="868680" y="1645920"/>
            <a:ext cx="548640" cy="548640"/>
          </a:xfrm>
          <a:prstGeom prst="rect">
            <a:avLst/>
          </a:prstGeom>
        </p:spPr>
      </p:pic>
      <p:sp>
        <p:nvSpPr>
          <p:cNvPr id="6" name="Text 2"/>
          <p:cNvSpPr txBox="1"/>
          <p:nvPr/>
        </p:nvSpPr>
        <p:spPr>
          <a:xfrm>
            <a:off x="1554480" y="1645920"/>
            <a:ext cx="2377440" cy="548640"/>
          </a:xfrm>
          <a:prstGeom prst="rect">
            <a:avLst/>
          </a:prstGeom>
          <a:noFill/>
          <a:ln/>
        </p:spPr>
        <p:txBody>
          <a:bodyPr wrap="square" lIns="0" tIns="0" rIns="0" bIns="0" rtlCol="0" anchor="ctr"/>
          <a:lstStyle/>
          <a:p>
            <a:pPr indent="0" marL="0">
              <a:buNone/>
            </a:pPr>
            <a:r>
              <a:rPr lang="en-US" sz="2400" b="1" dirty="0">
                <a:solidFill>
                  <a:schemeClr val="tx2"/>
                </a:solidFill>
              </a:rPr>
              <a:t>객체층</a:t>
            </a:r>
            <a:endParaRPr lang="en-US" sz="2400" dirty="0"/>
          </a:p>
        </p:txBody>
      </p:sp>
      <p:sp>
        <p:nvSpPr>
          <p:cNvPr id="7" name="Text 3"/>
          <p:cNvSpPr txBox="1"/>
          <p:nvPr/>
        </p:nvSpPr>
        <p:spPr>
          <a:xfrm>
            <a:off x="868680" y="2423160"/>
            <a:ext cx="3017520" cy="640080"/>
          </a:xfrm>
          <a:prstGeom prst="rect">
            <a:avLst/>
          </a:prstGeom>
          <a:noFill/>
          <a:ln/>
        </p:spPr>
        <p:txBody>
          <a:bodyPr wrap="square" lIns="0" tIns="0" rIns="0" bIns="0" rtlCol="0" anchor="t"/>
          <a:lstStyle/>
          <a:p>
            <a:pPr indent="0" marL="0">
              <a:buNone/>
            </a:pPr>
            <a:r>
              <a:rPr lang="en-US" sz="1600" b="1" dirty="0">
                <a:solidFill>
                  <a:schemeClr val="accent2"/>
                </a:solidFill>
              </a:rPr>
              <a:t>무엇과 무엇을 연결하는가</a:t>
            </a:r>
            <a:endParaRPr lang="en-US" sz="1600" dirty="0"/>
          </a:p>
        </p:txBody>
      </p:sp>
      <p:sp>
        <p:nvSpPr>
          <p:cNvPr id="8" name="Text 4"/>
          <p:cNvSpPr txBox="1"/>
          <p:nvPr/>
        </p:nvSpPr>
        <p:spPr>
          <a:xfrm>
            <a:off x="868680" y="3108960"/>
            <a:ext cx="3017520" cy="914400"/>
          </a:xfrm>
          <a:prstGeom prst="rect">
            <a:avLst/>
          </a:prstGeom>
          <a:noFill/>
          <a:ln/>
        </p:spPr>
        <p:txBody>
          <a:bodyPr wrap="square" lIns="0" tIns="0" rIns="0" bIns="0" rtlCol="0" anchor="t"/>
          <a:lstStyle/>
          <a:p>
            <a:pPr indent="0" marL="0">
              <a:buNone/>
            </a:pPr>
            <a:r>
              <a:rPr lang="en-US" sz="1500" dirty="0">
                <a:solidFill>
                  <a:schemeClr val="tx1"/>
                </a:solidFill>
              </a:rPr>
              <a:t>프로세스 22개와 산출물</a:t>
            </a:r>
            <a:endParaRPr lang="en-US" sz="1500" dirty="0"/>
          </a:p>
        </p:txBody>
      </p:sp>
      <p:sp>
        <p:nvSpPr>
          <p:cNvPr id="9" name="Text 5"/>
          <p:cNvSpPr txBox="1"/>
          <p:nvPr/>
        </p:nvSpPr>
        <p:spPr>
          <a:xfrm>
            <a:off x="868680" y="4114800"/>
            <a:ext cx="3017520" cy="640080"/>
          </a:xfrm>
          <a:prstGeom prst="rect">
            <a:avLst/>
          </a:prstGeom>
          <a:noFill/>
          <a:ln/>
        </p:spPr>
        <p:txBody>
          <a:bodyPr wrap="square" lIns="0" tIns="0" rIns="0" bIns="0" rtlCol="0" anchor="t"/>
          <a:lstStyle/>
          <a:p>
            <a:pPr indent="0" marL="0">
              <a:buNone/>
            </a:pPr>
            <a:r>
              <a:rPr lang="en-US" sz="1300" dirty="0">
                <a:solidFill>
                  <a:schemeClr val="accent6"/>
                </a:solidFill>
              </a:rPr>
              <a:t>근거: Arias Table 5 (인용)</a:t>
            </a:r>
            <a:endParaRPr lang="en-US" sz="1300" dirty="0"/>
          </a:p>
        </p:txBody>
      </p:sp>
      <p:sp>
        <p:nvSpPr>
          <p:cNvPr id="10" name="layer1"/>
          <p:cNvSpPr/>
          <p:nvPr/>
        </p:nvSpPr>
        <p:spPr>
          <a:xfrm>
            <a:off x="4297680" y="1417320"/>
            <a:ext cx="3593592" cy="3429000"/>
          </a:xfrm>
          <a:prstGeom prst="roundRect">
            <a:avLst>
              <a:gd name="adj" fmla="val 32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1" name="Image 1" descr="관계층">    </p:cNvPr>
          <p:cNvPicPr>
            <a:picLocks noChangeAspect="1"/>
          </p:cNvPicPr>
          <p:nvPr/>
        </p:nvPicPr>
        <p:blipFill>
          <a:blip r:embed="rId2"/>
          <a:stretch>
            <a:fillRect/>
          </a:stretch>
        </p:blipFill>
        <p:spPr>
          <a:xfrm>
            <a:off x="4617720" y="1645920"/>
            <a:ext cx="548640" cy="548640"/>
          </a:xfrm>
          <a:prstGeom prst="rect">
            <a:avLst/>
          </a:prstGeom>
        </p:spPr>
      </p:pic>
      <p:sp>
        <p:nvSpPr>
          <p:cNvPr id="12" name="Text 7"/>
          <p:cNvSpPr txBox="1"/>
          <p:nvPr/>
        </p:nvSpPr>
        <p:spPr>
          <a:xfrm>
            <a:off x="5303520" y="1645920"/>
            <a:ext cx="2377440" cy="548640"/>
          </a:xfrm>
          <a:prstGeom prst="rect">
            <a:avLst/>
          </a:prstGeom>
          <a:noFill/>
          <a:ln/>
        </p:spPr>
        <p:txBody>
          <a:bodyPr wrap="square" lIns="0" tIns="0" rIns="0" bIns="0" rtlCol="0" anchor="ctr"/>
          <a:lstStyle/>
          <a:p>
            <a:pPr indent="0" marL="0">
              <a:buNone/>
            </a:pPr>
            <a:r>
              <a:rPr lang="en-US" sz="2400" b="1" dirty="0">
                <a:solidFill>
                  <a:schemeClr val="tx2"/>
                </a:solidFill>
              </a:rPr>
              <a:t>관계층</a:t>
            </a:r>
            <a:endParaRPr lang="en-US" sz="2400" dirty="0"/>
          </a:p>
        </p:txBody>
      </p:sp>
      <p:sp>
        <p:nvSpPr>
          <p:cNvPr id="13" name="Text 8"/>
          <p:cNvSpPr txBox="1"/>
          <p:nvPr/>
        </p:nvSpPr>
        <p:spPr>
          <a:xfrm>
            <a:off x="4617720" y="2423160"/>
            <a:ext cx="3017520" cy="640080"/>
          </a:xfrm>
          <a:prstGeom prst="rect">
            <a:avLst/>
          </a:prstGeom>
          <a:noFill/>
          <a:ln/>
        </p:spPr>
        <p:txBody>
          <a:bodyPr wrap="square" lIns="0" tIns="0" rIns="0" bIns="0" rtlCol="0" anchor="t"/>
          <a:lstStyle/>
          <a:p>
            <a:pPr indent="0" marL="0">
              <a:buNone/>
            </a:pPr>
            <a:r>
              <a:rPr lang="en-US" sz="1600" b="1" dirty="0">
                <a:solidFill>
                  <a:schemeClr val="accent1"/>
                </a:solidFill>
              </a:rPr>
              <a:t>어떤 방식으로 연결되는가</a:t>
            </a:r>
            <a:endParaRPr lang="en-US" sz="1600" dirty="0"/>
          </a:p>
        </p:txBody>
      </p:sp>
      <p:sp>
        <p:nvSpPr>
          <p:cNvPr id="14" name="Text 9"/>
          <p:cNvSpPr txBox="1"/>
          <p:nvPr/>
        </p:nvSpPr>
        <p:spPr>
          <a:xfrm>
            <a:off x="4617720" y="3108960"/>
            <a:ext cx="3017520" cy="914400"/>
          </a:xfrm>
          <a:prstGeom prst="rect">
            <a:avLst/>
          </a:prstGeom>
          <a:noFill/>
          <a:ln/>
        </p:spPr>
        <p:txBody>
          <a:bodyPr wrap="square" lIns="0" tIns="0" rIns="0" bIns="0" rtlCol="0" anchor="t"/>
          <a:lstStyle/>
          <a:p>
            <a:pPr indent="0" marL="0">
              <a:buNone/>
            </a:pPr>
            <a:r>
              <a:rPr lang="en-US" sz="1500" dirty="0">
                <a:solidFill>
                  <a:schemeClr val="tx1"/>
                </a:solidFill>
              </a:rPr>
              <a:t>관계동사 11개: 입력된다, 근거가 된다, 검증된다, 환류된다…</a:t>
            </a:r>
            <a:endParaRPr lang="en-US" sz="1500" dirty="0"/>
          </a:p>
        </p:txBody>
      </p:sp>
      <p:sp>
        <p:nvSpPr>
          <p:cNvPr id="15" name="Text 10"/>
          <p:cNvSpPr txBox="1"/>
          <p:nvPr/>
        </p:nvSpPr>
        <p:spPr>
          <a:xfrm>
            <a:off x="4617720" y="4114800"/>
            <a:ext cx="3017520" cy="640080"/>
          </a:xfrm>
          <a:prstGeom prst="rect">
            <a:avLst/>
          </a:prstGeom>
          <a:noFill/>
          <a:ln/>
        </p:spPr>
        <p:txBody>
          <a:bodyPr wrap="square" lIns="0" tIns="0" rIns="0" bIns="0" rtlCol="0" anchor="t"/>
          <a:lstStyle/>
          <a:p>
            <a:pPr indent="0" marL="0">
              <a:buNone/>
            </a:pPr>
            <a:r>
              <a:rPr lang="en-US" sz="1300" dirty="0">
                <a:solidFill>
                  <a:schemeClr val="accent6"/>
                </a:solidFill>
              </a:rPr>
              <a:t>근거: Arias 서술문의 동사 (인용 + 분류는 연구자)</a:t>
            </a:r>
            <a:endParaRPr lang="en-US" sz="1300" dirty="0"/>
          </a:p>
        </p:txBody>
      </p:sp>
      <p:sp>
        <p:nvSpPr>
          <p:cNvPr id="16" name="layer2"/>
          <p:cNvSpPr/>
          <p:nvPr/>
        </p:nvSpPr>
        <p:spPr>
          <a:xfrm>
            <a:off x="8046720" y="1417320"/>
            <a:ext cx="3593592" cy="3429000"/>
          </a:xfrm>
          <a:prstGeom prst="roundRect">
            <a:avLst>
              <a:gd name="adj" fmla="val 32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pic>
        <p:nvPicPr>
          <p:cNvPr id="17" name="Image 2" descr="품질층">    </p:cNvPr>
          <p:cNvPicPr>
            <a:picLocks noChangeAspect="1"/>
          </p:cNvPicPr>
          <p:nvPr/>
        </p:nvPicPr>
        <p:blipFill>
          <a:blip r:embed="rId3"/>
          <a:stretch>
            <a:fillRect/>
          </a:stretch>
        </p:blipFill>
        <p:spPr>
          <a:xfrm>
            <a:off x="8366760" y="1645920"/>
            <a:ext cx="548640" cy="548640"/>
          </a:xfrm>
          <a:prstGeom prst="rect">
            <a:avLst/>
          </a:prstGeom>
        </p:spPr>
      </p:pic>
      <p:sp>
        <p:nvSpPr>
          <p:cNvPr id="18" name="Text 12"/>
          <p:cNvSpPr txBox="1"/>
          <p:nvPr/>
        </p:nvSpPr>
        <p:spPr>
          <a:xfrm>
            <a:off x="9052560" y="1645920"/>
            <a:ext cx="2377440" cy="548640"/>
          </a:xfrm>
          <a:prstGeom prst="rect">
            <a:avLst/>
          </a:prstGeom>
          <a:noFill/>
          <a:ln/>
        </p:spPr>
        <p:txBody>
          <a:bodyPr wrap="square" lIns="0" tIns="0" rIns="0" bIns="0" rtlCol="0" anchor="ctr"/>
          <a:lstStyle/>
          <a:p>
            <a:pPr indent="0" marL="0">
              <a:buNone/>
            </a:pPr>
            <a:r>
              <a:rPr lang="en-US" sz="2400" b="1" dirty="0">
                <a:solidFill>
                  <a:schemeClr val="tx2"/>
                </a:solidFill>
              </a:rPr>
              <a:t>품질층</a:t>
            </a:r>
            <a:endParaRPr lang="en-US" sz="2400" dirty="0"/>
          </a:p>
        </p:txBody>
      </p:sp>
      <p:sp>
        <p:nvSpPr>
          <p:cNvPr id="19" name="Text 13"/>
          <p:cNvSpPr txBox="1"/>
          <p:nvPr/>
        </p:nvSpPr>
        <p:spPr>
          <a:xfrm>
            <a:off x="8366760" y="2423160"/>
            <a:ext cx="3017520" cy="640080"/>
          </a:xfrm>
          <a:prstGeom prst="rect">
            <a:avLst/>
          </a:prstGeom>
          <a:noFill/>
          <a:ln/>
        </p:spPr>
        <p:txBody>
          <a:bodyPr wrap="square" lIns="0" tIns="0" rIns="0" bIns="0" rtlCol="0" anchor="t"/>
          <a:lstStyle/>
          <a:p>
            <a:pPr indent="0" marL="0">
              <a:buNone/>
            </a:pPr>
            <a:r>
              <a:rPr lang="en-US" sz="1600" b="1" dirty="0">
                <a:solidFill>
                  <a:schemeClr val="accent3"/>
                </a:solidFill>
              </a:rPr>
              <a:t>그 연결이 얼마나 잘 작동하는가</a:t>
            </a:r>
            <a:endParaRPr lang="en-US" sz="1600" dirty="0"/>
          </a:p>
        </p:txBody>
      </p:sp>
      <p:sp>
        <p:nvSpPr>
          <p:cNvPr id="20" name="Text 14"/>
          <p:cNvSpPr txBox="1"/>
          <p:nvPr/>
        </p:nvSpPr>
        <p:spPr>
          <a:xfrm>
            <a:off x="8366760" y="3108960"/>
            <a:ext cx="3017520" cy="914400"/>
          </a:xfrm>
          <a:prstGeom prst="rect">
            <a:avLst/>
          </a:prstGeom>
          <a:noFill/>
          <a:ln/>
        </p:spPr>
        <p:txBody>
          <a:bodyPr wrap="square" lIns="0" tIns="0" rIns="0" bIns="0" rtlCol="0" anchor="t"/>
          <a:lstStyle/>
          <a:p>
            <a:pPr indent="0" marL="0">
              <a:buNone/>
            </a:pPr>
            <a:r>
              <a:rPr lang="en-US" sz="1500" dirty="0">
                <a:solidFill>
                  <a:schemeClr val="tx1"/>
                </a:solidFill>
              </a:rPr>
              <a:t>6개 차원: 정합성·추적성·증빙성·책임성·최신성·환류폐쇄성</a:t>
            </a:r>
            <a:endParaRPr lang="en-US" sz="1500" dirty="0"/>
          </a:p>
        </p:txBody>
      </p:sp>
      <p:sp>
        <p:nvSpPr>
          <p:cNvPr id="21" name="Text 15"/>
          <p:cNvSpPr txBox="1"/>
          <p:nvPr/>
        </p:nvSpPr>
        <p:spPr>
          <a:xfrm>
            <a:off x="8366760" y="4114800"/>
            <a:ext cx="3017520" cy="640080"/>
          </a:xfrm>
          <a:prstGeom prst="rect">
            <a:avLst/>
          </a:prstGeom>
          <a:noFill/>
          <a:ln/>
        </p:spPr>
        <p:txBody>
          <a:bodyPr wrap="square" lIns="0" tIns="0" rIns="0" bIns="0" rtlCol="0" anchor="t"/>
          <a:lstStyle/>
          <a:p>
            <a:pPr indent="0" marL="0">
              <a:buNone/>
            </a:pPr>
            <a:r>
              <a:rPr lang="en-US" sz="1300" dirty="0">
                <a:solidFill>
                  <a:schemeClr val="accent6"/>
                </a:solidFill>
              </a:rPr>
              <a:t>근거: 첨부 문서의 초기 가설 + 인용·외부 문헌</a:t>
            </a:r>
            <a:endParaRPr lang="en-US" sz="1300" dirty="0"/>
          </a:p>
        </p:txBody>
      </p:sp>
      <p:sp>
        <p:nvSpPr>
          <p:cNvPr id="22" name="formula"/>
          <p:cNvSpPr/>
          <p:nvPr/>
        </p:nvSpPr>
        <p:spPr>
          <a:xfrm>
            <a:off x="548640" y="5074920"/>
            <a:ext cx="11091672" cy="1051560"/>
          </a:xfrm>
          <a:prstGeom prst="roundRect">
            <a:avLst>
              <a:gd name="adj" fmla="val 10435"/>
            </a:avLst>
          </a:prstGeom>
          <a:solidFill>
            <a:schemeClr val="tx2"/>
          </a:solidFill>
          <a:ln w="6350">
            <a:solidFill>
              <a:schemeClr val="tx2"/>
            </a:solidFill>
            <a:prstDash val="solid"/>
          </a:ln>
        </p:spPr>
      </p:sp>
      <p:sp>
        <p:nvSpPr>
          <p:cNvPr id="23" name="Text 17"/>
          <p:cNvSpPr txBox="1"/>
          <p:nvPr/>
        </p:nvSpPr>
        <p:spPr>
          <a:xfrm>
            <a:off x="914400" y="5120640"/>
            <a:ext cx="10360152" cy="502920"/>
          </a:xfrm>
          <a:prstGeom prst="rect">
            <a:avLst/>
          </a:prstGeom>
          <a:noFill/>
          <a:ln/>
        </p:spPr>
        <p:txBody>
          <a:bodyPr wrap="square" lIns="0" tIns="0" rIns="0" bIns="0" rtlCol="0" anchor="ctr"/>
          <a:lstStyle/>
          <a:p>
            <a:pPr algn="ctr" indent="0" marL="0">
              <a:buNone/>
            </a:pPr>
            <a:r>
              <a:rPr lang="en-US" sz="2200" b="1" dirty="0">
                <a:solidFill>
                  <a:schemeClr val="bg1"/>
                </a:solidFill>
              </a:rPr>
              <a:t>문항 = 객체쌍 + 관계동사 + 품질조건</a:t>
            </a:r>
            <a:endParaRPr lang="en-US" sz="2200" dirty="0"/>
          </a:p>
        </p:txBody>
      </p:sp>
      <p:sp>
        <p:nvSpPr>
          <p:cNvPr id="24" name="Text 18"/>
          <p:cNvSpPr txBox="1"/>
          <p:nvPr/>
        </p:nvSpPr>
        <p:spPr>
          <a:xfrm>
            <a:off x="914400" y="5623560"/>
            <a:ext cx="10360152" cy="457200"/>
          </a:xfrm>
          <a:prstGeom prst="rect">
            <a:avLst/>
          </a:prstGeom>
          <a:noFill/>
          <a:ln/>
        </p:spPr>
        <p:txBody>
          <a:bodyPr wrap="square" lIns="0" tIns="0" rIns="0" bIns="0" rtlCol="0" anchor="ctr"/>
          <a:lstStyle/>
          <a:p>
            <a:pPr algn="ctr" indent="0" marL="0">
              <a:buNone/>
            </a:pPr>
            <a:r>
              <a:rPr lang="en-US" sz="1400" dirty="0">
                <a:solidFill>
                  <a:srgbClr val="CADCFC"/>
                </a:solidFill>
              </a:rPr>
              <a:t>예) 요구사항 목록이(S) BIA의 우선순위 설정에(T) 입력될 때(입력된다), 두 내용이 모순 없이 일치한다(정합성)</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이 말만 알면 됩니다</a:t>
            </a:r>
            <a:endParaRPr lang="en-US" sz="3200" dirty="0"/>
          </a:p>
        </p:txBody>
      </p:sp>
      <p:sp>
        <p:nvSpPr>
          <p:cNvPr id="4" name="gloss0"/>
          <p:cNvSpPr/>
          <p:nvPr/>
        </p:nvSpPr>
        <p:spPr>
          <a:xfrm>
            <a:off x="54864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chip"/>
          <p:cNvSpPr/>
          <p:nvPr/>
        </p:nvSpPr>
        <p:spPr>
          <a:xfrm>
            <a:off x="2587752" y="1581912"/>
            <a:ext cx="1371600" cy="310896"/>
          </a:xfrm>
          <a:prstGeom prst="roundRect">
            <a:avLst>
              <a:gd name="adj" fmla="val 50000"/>
            </a:avLst>
          </a:prstGeom>
          <a:solidFill>
            <a:srgbClr val="1F6F8B"/>
          </a:solidFill>
          <a:ln w="6350">
            <a:solidFill>
              <a:srgbClr val="1F6F8B"/>
            </a:solidFill>
            <a:prstDash val="solid"/>
          </a:ln>
        </p:spPr>
      </p:sp>
      <p:sp>
        <p:nvSpPr>
          <p:cNvPr id="6" name="Text 3"/>
          <p:cNvSpPr txBox="1"/>
          <p:nvPr/>
        </p:nvSpPr>
        <p:spPr>
          <a:xfrm>
            <a:off x="258775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개념</a:t>
            </a:r>
            <a:endParaRPr lang="en-US" sz="1200" dirty="0"/>
          </a:p>
        </p:txBody>
      </p:sp>
      <p:sp>
        <p:nvSpPr>
          <p:cNvPr id="7" name="Text 4"/>
          <p:cNvSpPr txBox="1"/>
          <p:nvPr/>
        </p:nvSpPr>
        <p:spPr>
          <a:xfrm>
            <a:off x="82296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프로세스(객체)</a:t>
            </a:r>
            <a:endParaRPr lang="en-US" sz="1900" dirty="0"/>
          </a:p>
        </p:txBody>
      </p:sp>
      <p:sp>
        <p:nvSpPr>
          <p:cNvPr id="8" name="Text 5"/>
          <p:cNvSpPr txBox="1"/>
          <p:nvPr/>
        </p:nvSpPr>
        <p:spPr>
          <a:xfrm>
            <a:off x="82296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Arias Table 5의 22개 BCMS 프로세스. 입력을 출력으로 바꾸는 활동의 묶음</a:t>
            </a:r>
            <a:endParaRPr lang="en-US" sz="1400" dirty="0"/>
          </a:p>
        </p:txBody>
      </p:sp>
      <p:sp>
        <p:nvSpPr>
          <p:cNvPr id="9" name="gloss1"/>
          <p:cNvSpPr/>
          <p:nvPr/>
        </p:nvSpPr>
        <p:spPr>
          <a:xfrm>
            <a:off x="429768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chip"/>
          <p:cNvSpPr/>
          <p:nvPr/>
        </p:nvSpPr>
        <p:spPr>
          <a:xfrm>
            <a:off x="6336792" y="1581912"/>
            <a:ext cx="1371600" cy="310896"/>
          </a:xfrm>
          <a:prstGeom prst="roundRect">
            <a:avLst>
              <a:gd name="adj" fmla="val 50000"/>
            </a:avLst>
          </a:prstGeom>
          <a:solidFill>
            <a:srgbClr val="F26B38"/>
          </a:solidFill>
          <a:ln w="6350">
            <a:solidFill>
              <a:srgbClr val="F26B38"/>
            </a:solidFill>
            <a:prstDash val="solid"/>
          </a:ln>
        </p:spPr>
      </p:sp>
      <p:sp>
        <p:nvSpPr>
          <p:cNvPr id="11" name="Text 8"/>
          <p:cNvSpPr txBox="1"/>
          <p:nvPr/>
        </p:nvSpPr>
        <p:spPr>
          <a:xfrm>
            <a:off x="633679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12" name="Text 9"/>
          <p:cNvSpPr txBox="1"/>
          <p:nvPr/>
        </p:nvSpPr>
        <p:spPr>
          <a:xfrm>
            <a:off x="457200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연결</a:t>
            </a:r>
            <a:endParaRPr lang="en-US" sz="1900" dirty="0"/>
          </a:p>
        </p:txBody>
      </p:sp>
      <p:sp>
        <p:nvSpPr>
          <p:cNvPr id="13" name="Text 10"/>
          <p:cNvSpPr txBox="1"/>
          <p:nvPr/>
        </p:nvSpPr>
        <p:spPr>
          <a:xfrm>
            <a:off x="457200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프로세스 S의 산출물이 T에 쓰이는 방향 있는 한 쌍 (S → T)</a:t>
            </a:r>
            <a:endParaRPr lang="en-US" sz="1400" dirty="0"/>
          </a:p>
        </p:txBody>
      </p:sp>
      <p:sp>
        <p:nvSpPr>
          <p:cNvPr id="14" name="gloss2"/>
          <p:cNvSpPr/>
          <p:nvPr/>
        </p:nvSpPr>
        <p:spPr>
          <a:xfrm>
            <a:off x="8046720" y="141732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chip"/>
          <p:cNvSpPr/>
          <p:nvPr/>
        </p:nvSpPr>
        <p:spPr>
          <a:xfrm>
            <a:off x="10085832" y="1581912"/>
            <a:ext cx="1371600" cy="310896"/>
          </a:xfrm>
          <a:prstGeom prst="roundRect">
            <a:avLst>
              <a:gd name="adj" fmla="val 50000"/>
            </a:avLst>
          </a:prstGeom>
          <a:solidFill>
            <a:srgbClr val="F26B38"/>
          </a:solidFill>
          <a:ln w="6350">
            <a:solidFill>
              <a:srgbClr val="F26B38"/>
            </a:solidFill>
            <a:prstDash val="solid"/>
          </a:ln>
        </p:spPr>
      </p:sp>
      <p:sp>
        <p:nvSpPr>
          <p:cNvPr id="16" name="Text 13"/>
          <p:cNvSpPr txBox="1"/>
          <p:nvPr/>
        </p:nvSpPr>
        <p:spPr>
          <a:xfrm>
            <a:off x="10085832" y="158191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17" name="Text 14"/>
          <p:cNvSpPr txBox="1"/>
          <p:nvPr/>
        </p:nvSpPr>
        <p:spPr>
          <a:xfrm>
            <a:off x="8321040" y="2011680"/>
            <a:ext cx="3108960" cy="457200"/>
          </a:xfrm>
          <a:prstGeom prst="rect">
            <a:avLst/>
          </a:prstGeom>
          <a:noFill/>
          <a:ln/>
        </p:spPr>
        <p:txBody>
          <a:bodyPr wrap="square" lIns="0" tIns="0" rIns="0" bIns="0" rtlCol="0" anchor="t"/>
          <a:lstStyle/>
          <a:p>
            <a:pPr indent="0" marL="0">
              <a:buNone/>
            </a:pPr>
            <a:r>
              <a:rPr lang="en-US" sz="1900" b="1" dirty="0">
                <a:solidFill>
                  <a:schemeClr val="tx2"/>
                </a:solidFill>
              </a:rPr>
              <a:t>관계동사</a:t>
            </a:r>
            <a:endParaRPr lang="en-US" sz="1900" dirty="0"/>
          </a:p>
        </p:txBody>
      </p:sp>
      <p:sp>
        <p:nvSpPr>
          <p:cNvPr id="18" name="Text 15"/>
          <p:cNvSpPr txBox="1"/>
          <p:nvPr/>
        </p:nvSpPr>
        <p:spPr>
          <a:xfrm>
            <a:off x="8321040" y="2514600"/>
            <a:ext cx="3063240" cy="960120"/>
          </a:xfrm>
          <a:prstGeom prst="rect">
            <a:avLst/>
          </a:prstGeom>
          <a:noFill/>
          <a:ln/>
        </p:spPr>
        <p:txBody>
          <a:bodyPr wrap="square" lIns="0" tIns="0" rIns="0" bIns="0" rtlCol="0" anchor="t"/>
          <a:lstStyle/>
          <a:p>
            <a:pPr indent="0" marL="0">
              <a:buNone/>
            </a:pPr>
            <a:r>
              <a:rPr lang="en-US" sz="1400" dirty="0">
                <a:solidFill>
                  <a:schemeClr val="tx1"/>
                </a:solidFill>
              </a:rPr>
              <a:t>연결의 의미를 나타내는 동사 11개. Arias 서술문에서 추출</a:t>
            </a:r>
            <a:endParaRPr lang="en-US" sz="1400" dirty="0"/>
          </a:p>
        </p:txBody>
      </p:sp>
      <p:sp>
        <p:nvSpPr>
          <p:cNvPr id="19" name="gloss3"/>
          <p:cNvSpPr/>
          <p:nvPr/>
        </p:nvSpPr>
        <p:spPr>
          <a:xfrm>
            <a:off x="54864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0" name="chip"/>
          <p:cNvSpPr/>
          <p:nvPr/>
        </p:nvSpPr>
        <p:spPr>
          <a:xfrm>
            <a:off x="2587752" y="3913632"/>
            <a:ext cx="1371600" cy="310896"/>
          </a:xfrm>
          <a:prstGeom prst="roundRect">
            <a:avLst>
              <a:gd name="adj" fmla="val 50000"/>
            </a:avLst>
          </a:prstGeom>
          <a:solidFill>
            <a:srgbClr val="F26B38"/>
          </a:solidFill>
          <a:ln w="6350">
            <a:solidFill>
              <a:srgbClr val="F26B38"/>
            </a:solidFill>
            <a:prstDash val="solid"/>
          </a:ln>
        </p:spPr>
      </p:sp>
      <p:sp>
        <p:nvSpPr>
          <p:cNvPr id="21" name="Text 18"/>
          <p:cNvSpPr txBox="1"/>
          <p:nvPr/>
        </p:nvSpPr>
        <p:spPr>
          <a:xfrm>
            <a:off x="258775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22" name="Text 19"/>
          <p:cNvSpPr txBox="1"/>
          <p:nvPr/>
        </p:nvSpPr>
        <p:spPr>
          <a:xfrm>
            <a:off x="82296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연결 품질</a:t>
            </a:r>
            <a:endParaRPr lang="en-US" sz="1900" dirty="0"/>
          </a:p>
        </p:txBody>
      </p:sp>
      <p:sp>
        <p:nvSpPr>
          <p:cNvPr id="23" name="Text 20"/>
          <p:cNvSpPr txBox="1"/>
          <p:nvPr/>
        </p:nvSpPr>
        <p:spPr>
          <a:xfrm>
            <a:off x="82296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한 연결이 실제 운영에서 얼마나 잘 작동하는가. 6개 차원으로 측정</a:t>
            </a:r>
            <a:endParaRPr lang="en-US" sz="1400" dirty="0"/>
          </a:p>
        </p:txBody>
      </p:sp>
      <p:sp>
        <p:nvSpPr>
          <p:cNvPr id="24" name="gloss4"/>
          <p:cNvSpPr/>
          <p:nvPr/>
        </p:nvSpPr>
        <p:spPr>
          <a:xfrm>
            <a:off x="429768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5" name="chip"/>
          <p:cNvSpPr/>
          <p:nvPr/>
        </p:nvSpPr>
        <p:spPr>
          <a:xfrm>
            <a:off x="6336792" y="3913632"/>
            <a:ext cx="1371600" cy="310896"/>
          </a:xfrm>
          <a:prstGeom prst="roundRect">
            <a:avLst>
              <a:gd name="adj" fmla="val 50000"/>
            </a:avLst>
          </a:prstGeom>
          <a:solidFill>
            <a:srgbClr val="F26B38"/>
          </a:solidFill>
          <a:ln w="6350">
            <a:solidFill>
              <a:srgbClr val="F26B38"/>
            </a:solidFill>
            <a:prstDash val="solid"/>
          </a:ln>
        </p:spPr>
      </p:sp>
      <p:sp>
        <p:nvSpPr>
          <p:cNvPr id="26" name="Text 23"/>
          <p:cNvSpPr txBox="1"/>
          <p:nvPr/>
        </p:nvSpPr>
        <p:spPr>
          <a:xfrm>
            <a:off x="633679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27" name="Text 24"/>
          <p:cNvSpPr txBox="1"/>
          <p:nvPr/>
        </p:nvSpPr>
        <p:spPr>
          <a:xfrm>
            <a:off x="457200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품질 차원</a:t>
            </a:r>
            <a:endParaRPr lang="en-US" sz="1900" dirty="0"/>
          </a:p>
        </p:txBody>
      </p:sp>
      <p:sp>
        <p:nvSpPr>
          <p:cNvPr id="28" name="Text 25"/>
          <p:cNvSpPr txBox="1"/>
          <p:nvPr/>
        </p:nvSpPr>
        <p:spPr>
          <a:xfrm>
            <a:off x="457200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정합성·추적성·증빙성·책임성·최신성·환류폐쇄성</a:t>
            </a:r>
            <a:endParaRPr lang="en-US" sz="1400" dirty="0"/>
          </a:p>
        </p:txBody>
      </p:sp>
      <p:sp>
        <p:nvSpPr>
          <p:cNvPr id="29" name="gloss5"/>
          <p:cNvSpPr/>
          <p:nvPr/>
        </p:nvSpPr>
        <p:spPr>
          <a:xfrm>
            <a:off x="8046720" y="3749040"/>
            <a:ext cx="3593592" cy="2148840"/>
          </a:xfrm>
          <a:prstGeom prst="roundRect">
            <a:avLst>
              <a:gd name="adj" fmla="val 510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30" name="chip"/>
          <p:cNvSpPr/>
          <p:nvPr/>
        </p:nvSpPr>
        <p:spPr>
          <a:xfrm>
            <a:off x="10085832" y="3913632"/>
            <a:ext cx="1371600" cy="310896"/>
          </a:xfrm>
          <a:prstGeom prst="roundRect">
            <a:avLst>
              <a:gd name="adj" fmla="val 50000"/>
            </a:avLst>
          </a:prstGeom>
          <a:solidFill>
            <a:srgbClr val="F26B38"/>
          </a:solidFill>
          <a:ln w="6350">
            <a:solidFill>
              <a:srgbClr val="F26B38"/>
            </a:solidFill>
            <a:prstDash val="solid"/>
          </a:ln>
        </p:spPr>
      </p:sp>
      <p:sp>
        <p:nvSpPr>
          <p:cNvPr id="31" name="Text 28"/>
          <p:cNvSpPr txBox="1"/>
          <p:nvPr/>
        </p:nvSpPr>
        <p:spPr>
          <a:xfrm>
            <a:off x="10085832" y="391363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정의</a:t>
            </a:r>
            <a:endParaRPr lang="en-US" sz="1200" dirty="0"/>
          </a:p>
        </p:txBody>
      </p:sp>
      <p:sp>
        <p:nvSpPr>
          <p:cNvPr id="32" name="Text 29"/>
          <p:cNvSpPr txBox="1"/>
          <p:nvPr/>
        </p:nvSpPr>
        <p:spPr>
          <a:xfrm>
            <a:off x="8321040" y="4343400"/>
            <a:ext cx="3108960" cy="457200"/>
          </a:xfrm>
          <a:prstGeom prst="rect">
            <a:avLst/>
          </a:prstGeom>
          <a:noFill/>
          <a:ln/>
        </p:spPr>
        <p:txBody>
          <a:bodyPr wrap="square" lIns="0" tIns="0" rIns="0" bIns="0" rtlCol="0" anchor="t"/>
          <a:lstStyle/>
          <a:p>
            <a:pPr indent="0" marL="0">
              <a:buNone/>
            </a:pPr>
            <a:r>
              <a:rPr lang="en-US" sz="1900" b="1" dirty="0">
                <a:solidFill>
                  <a:schemeClr val="tx2"/>
                </a:solidFill>
              </a:rPr>
              <a:t>증거유형 E1·E2·E3</a:t>
            </a:r>
            <a:endParaRPr lang="en-US" sz="1900" dirty="0"/>
          </a:p>
        </p:txBody>
      </p:sp>
      <p:sp>
        <p:nvSpPr>
          <p:cNvPr id="33" name="Text 30"/>
          <p:cNvSpPr txBox="1"/>
          <p:nvPr/>
        </p:nvSpPr>
        <p:spPr>
          <a:xfrm>
            <a:off x="8321040" y="4846320"/>
            <a:ext cx="3063240" cy="960120"/>
          </a:xfrm>
          <a:prstGeom prst="rect">
            <a:avLst/>
          </a:prstGeom>
          <a:noFill/>
          <a:ln/>
        </p:spPr>
        <p:txBody>
          <a:bodyPr wrap="square" lIns="0" tIns="0" rIns="0" bIns="0" rtlCol="0" anchor="t"/>
          <a:lstStyle/>
          <a:p>
            <a:pPr indent="0" marL="0">
              <a:buNone/>
            </a:pPr>
            <a:r>
              <a:rPr lang="en-US" sz="1400" dirty="0">
                <a:solidFill>
                  <a:schemeClr val="tx1"/>
                </a:solidFill>
              </a:rPr>
              <a:t>연결을 논문이 얼마나 직접 말했나. 직접 / 일부 보완 / 가정</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두 논문과 외부 문헌</a:t>
            </a:r>
            <a:endParaRPr lang="en-US" sz="3200" dirty="0"/>
          </a:p>
        </p:txBody>
      </p:sp>
      <p:sp>
        <p:nvSpPr>
          <p:cNvPr id="4" name="paper0"/>
          <p:cNvSpPr/>
          <p:nvPr/>
        </p:nvSpPr>
        <p:spPr>
          <a:xfrm>
            <a:off x="548640" y="1463040"/>
            <a:ext cx="3593592" cy="448056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68680" y="1691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Arias (2026)</a:t>
            </a:r>
            <a:endParaRPr lang="en-US" sz="2200" dirty="0"/>
          </a:p>
        </p:txBody>
      </p:sp>
      <p:sp>
        <p:nvSpPr>
          <p:cNvPr id="6" name="Text 3"/>
          <p:cNvSpPr txBox="1"/>
          <p:nvPr/>
        </p:nvSpPr>
        <p:spPr>
          <a:xfrm>
            <a:off x="868680" y="2240280"/>
            <a:ext cx="3017520" cy="731520"/>
          </a:xfrm>
          <a:prstGeom prst="rect">
            <a:avLst/>
          </a:prstGeom>
          <a:noFill/>
          <a:ln/>
        </p:spPr>
        <p:txBody>
          <a:bodyPr wrap="square" lIns="0" tIns="0" rIns="0" bIns="0" rtlCol="0" anchor="t"/>
          <a:lstStyle/>
          <a:p>
            <a:pPr indent="0" marL="0">
              <a:buNone/>
            </a:pPr>
            <a:r>
              <a:rPr lang="en-US" sz="1500" b="1" dirty="0">
                <a:solidFill>
                  <a:schemeClr val="accent2"/>
                </a:solidFill>
              </a:rPr>
              <a:t>누가 뛰는가 · 바통이 어디로 가는가</a:t>
            </a:r>
            <a:endParaRPr lang="en-US" sz="1500" dirty="0"/>
          </a:p>
        </p:txBody>
      </p:sp>
      <p:sp>
        <p:nvSpPr>
          <p:cNvPr id="7" name="Text 4"/>
          <p:cNvSpPr txBox="1"/>
          <p:nvPr/>
        </p:nvSpPr>
        <p:spPr>
          <a:xfrm>
            <a:off x="868680" y="31089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객체층: 22개 프로세스(Table 5)</a:t>
            </a:r>
            <a:endParaRPr lang="en-US" sz="1500" dirty="0"/>
          </a:p>
          <a:p>
            <a:pPr marL="342900" indent="-342900">
              <a:spcAft>
                <a:spcPts val="1000"/>
              </a:spcAft>
              <a:buSzPct val="100000"/>
              <a:buChar char="•"/>
            </a:pPr>
            <a:r>
              <a:rPr lang="en-US" sz="1500" dirty="0">
                <a:solidFill>
                  <a:schemeClr val="tx1"/>
                </a:solidFill>
              </a:rPr>
              <a:t>관계층: 서술문 속 동사</a:t>
            </a:r>
            <a:endParaRPr lang="en-US" sz="1500" dirty="0"/>
          </a:p>
          <a:p>
            <a:pPr marL="342900" indent="-342900">
              <a:spcAft>
                <a:spcPts val="1000"/>
              </a:spcAft>
              <a:buSzPct val="100000"/>
              <a:buChar char="•"/>
            </a:pPr>
            <a:r>
              <a:rPr lang="en-US" sz="1500" dirty="0">
                <a:solidFill>
                  <a:schemeClr val="tx1"/>
                </a:solidFill>
              </a:rPr>
              <a:t>한계: 연결은 검증하지 않음</a:t>
            </a:r>
            <a:endParaRPr lang="en-US" sz="1500" dirty="0"/>
          </a:p>
        </p:txBody>
      </p:sp>
      <p:sp>
        <p:nvSpPr>
          <p:cNvPr id="8" name="paper1"/>
          <p:cNvSpPr/>
          <p:nvPr/>
        </p:nvSpPr>
        <p:spPr>
          <a:xfrm>
            <a:off x="4297680" y="1463040"/>
            <a:ext cx="3593592" cy="448056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617720" y="1691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Białas (2010)</a:t>
            </a:r>
            <a:endParaRPr lang="en-US" sz="2200" dirty="0"/>
          </a:p>
        </p:txBody>
      </p:sp>
      <p:sp>
        <p:nvSpPr>
          <p:cNvPr id="10" name="Text 7"/>
          <p:cNvSpPr txBox="1"/>
          <p:nvPr/>
        </p:nvSpPr>
        <p:spPr>
          <a:xfrm>
            <a:off x="4617720" y="2240280"/>
            <a:ext cx="3017520" cy="731520"/>
          </a:xfrm>
          <a:prstGeom prst="rect">
            <a:avLst/>
          </a:prstGeom>
          <a:noFill/>
          <a:ln/>
        </p:spPr>
        <p:txBody>
          <a:bodyPr wrap="square" lIns="0" tIns="0" rIns="0" bIns="0" rtlCol="0" anchor="t"/>
          <a:lstStyle/>
          <a:p>
            <a:pPr indent="0" marL="0">
              <a:buNone/>
            </a:pPr>
            <a:r>
              <a:rPr lang="en-US" sz="1500" b="1" dirty="0">
                <a:solidFill>
                  <a:schemeClr val="accent1"/>
                </a:solidFill>
              </a:rPr>
              <a:t>바통 이동을 지도로 그리는 방법</a:t>
            </a:r>
            <a:endParaRPr lang="en-US" sz="1500" dirty="0"/>
          </a:p>
        </p:txBody>
      </p:sp>
      <p:sp>
        <p:nvSpPr>
          <p:cNvPr id="11" name="Text 8"/>
          <p:cNvSpPr txBox="1"/>
          <p:nvPr/>
        </p:nvSpPr>
        <p:spPr>
          <a:xfrm>
            <a:off x="4617720" y="31089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방법만 차용: 객체·관계 정의, competency question, 검증</a:t>
            </a:r>
            <a:endParaRPr lang="en-US" sz="1500" dirty="0"/>
          </a:p>
          <a:p>
            <a:pPr marL="342900" indent="-342900">
              <a:spcAft>
                <a:spcPts val="1000"/>
              </a:spcAft>
              <a:buSzPct val="100000"/>
              <a:buChar char="•"/>
            </a:pPr>
            <a:r>
              <a:rPr lang="en-US" sz="1500" dirty="0">
                <a:solidFill>
                  <a:schemeClr val="tx1"/>
                </a:solidFill>
              </a:rPr>
              <a:t>한계: BS 25999 기반 프로토타입</a:t>
            </a:r>
            <a:endParaRPr lang="en-US" sz="1500" dirty="0"/>
          </a:p>
        </p:txBody>
      </p:sp>
      <p:sp>
        <p:nvSpPr>
          <p:cNvPr id="12" name="paper2"/>
          <p:cNvSpPr/>
          <p:nvPr/>
        </p:nvSpPr>
        <p:spPr>
          <a:xfrm>
            <a:off x="8046720" y="1463040"/>
            <a:ext cx="3593592" cy="448056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366760" y="1691640"/>
            <a:ext cx="3017520" cy="457200"/>
          </a:xfrm>
          <a:prstGeom prst="rect">
            <a:avLst/>
          </a:prstGeom>
          <a:noFill/>
          <a:ln/>
        </p:spPr>
        <p:txBody>
          <a:bodyPr wrap="square" lIns="0" tIns="0" rIns="0" bIns="0" rtlCol="0" anchor="t"/>
          <a:lstStyle/>
          <a:p>
            <a:pPr indent="0" marL="0">
              <a:buNone/>
            </a:pPr>
            <a:r>
              <a:rPr lang="en-US" sz="2200" b="1" dirty="0">
                <a:solidFill>
                  <a:schemeClr val="tx2"/>
                </a:solidFill>
              </a:rPr>
              <a:t>외부 문헌 후보 12건</a:t>
            </a:r>
            <a:endParaRPr lang="en-US" sz="2200" dirty="0"/>
          </a:p>
        </p:txBody>
      </p:sp>
      <p:sp>
        <p:nvSpPr>
          <p:cNvPr id="14" name="Text 11"/>
          <p:cNvSpPr txBox="1"/>
          <p:nvPr/>
        </p:nvSpPr>
        <p:spPr>
          <a:xfrm>
            <a:off x="8366760" y="2240280"/>
            <a:ext cx="3017520" cy="731520"/>
          </a:xfrm>
          <a:prstGeom prst="rect">
            <a:avLst/>
          </a:prstGeom>
          <a:noFill/>
          <a:ln/>
        </p:spPr>
        <p:txBody>
          <a:bodyPr wrap="square" lIns="0" tIns="0" rIns="0" bIns="0" rtlCol="0" anchor="t"/>
          <a:lstStyle/>
          <a:p>
            <a:pPr indent="0" marL="0">
              <a:buNone/>
            </a:pPr>
            <a:r>
              <a:rPr lang="en-US" sz="1500" b="1" dirty="0">
                <a:solidFill>
                  <a:schemeClr val="accent3"/>
                </a:solidFill>
              </a:rPr>
              <a:t>품질 차원의 학술 근거</a:t>
            </a:r>
            <a:endParaRPr lang="en-US" sz="1500" dirty="0"/>
          </a:p>
        </p:txBody>
      </p:sp>
      <p:sp>
        <p:nvSpPr>
          <p:cNvPr id="15" name="Text 12"/>
          <p:cNvSpPr txBox="1"/>
          <p:nvPr/>
        </p:nvSpPr>
        <p:spPr>
          <a:xfrm>
            <a:off x="8366760" y="3108960"/>
            <a:ext cx="3017520" cy="26517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추적성·데이터 품질·책임성·환류학습 문헌</a:t>
            </a:r>
            <a:endParaRPr lang="en-US" sz="1500" dirty="0"/>
          </a:p>
          <a:p>
            <a:pPr marL="342900" indent="-342900">
              <a:spcAft>
                <a:spcPts val="1000"/>
              </a:spcAft>
              <a:buSzPct val="100000"/>
              <a:buChar char="•"/>
            </a:pPr>
            <a:r>
              <a:rPr lang="en-US" sz="1500" dirty="0">
                <a:solidFill>
                  <a:schemeClr val="tx1"/>
                </a:solidFill>
              </a:rPr>
              <a:t>서지는 확인, 원문은 미확인</a:t>
            </a:r>
            <a:endParaRPr lang="en-US" sz="1500" dirty="0"/>
          </a:p>
          <a:p>
            <a:pPr marL="342900" indent="-342900">
              <a:spcAft>
                <a:spcPts val="1000"/>
              </a:spcAft>
              <a:buSzPct val="100000"/>
              <a:buChar char="•"/>
            </a:pPr>
            <a:r>
              <a:rPr lang="en-US" sz="1500" dirty="0">
                <a:solidFill>
                  <a:schemeClr val="tx1"/>
                </a:solidFill>
              </a:rPr>
              <a:t>연구자가 원문 확인 후 확정</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4단계로 만들었습니다</a:t>
            </a:r>
            <a:endParaRPr lang="en-US" sz="3200" dirty="0"/>
          </a:p>
        </p:txBody>
      </p:sp>
      <p:sp>
        <p:nvSpPr>
          <p:cNvPr id="4" name="step0"/>
          <p:cNvSpPr/>
          <p:nvPr/>
        </p:nvSpPr>
        <p:spPr>
          <a:xfrm>
            <a:off x="54864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badge"/>
          <p:cNvSpPr/>
          <p:nvPr/>
        </p:nvSpPr>
        <p:spPr>
          <a:xfrm>
            <a:off x="822960" y="1783080"/>
            <a:ext cx="640080" cy="640080"/>
          </a:xfrm>
          <a:prstGeom prst="ellipse">
            <a:avLst/>
          </a:prstGeom>
          <a:solidFill>
            <a:schemeClr val="accent1"/>
          </a:solidFill>
          <a:ln w="6350">
            <a:solidFill>
              <a:schemeClr val="accent1"/>
            </a:solidFill>
            <a:prstDash val="solid"/>
          </a:ln>
        </p:spPr>
      </p:sp>
      <p:sp>
        <p:nvSpPr>
          <p:cNvPr id="6" name="Text 3"/>
          <p:cNvSpPr txBox="1"/>
          <p:nvPr/>
        </p:nvSpPr>
        <p:spPr>
          <a:xfrm>
            <a:off x="82296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7" name="Text 4"/>
          <p:cNvSpPr txBox="1"/>
          <p:nvPr/>
        </p:nvSpPr>
        <p:spPr>
          <a:xfrm>
            <a:off x="82296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연결 근거 찾기</a:t>
            </a:r>
            <a:endParaRPr lang="en-US" sz="1900" dirty="0"/>
          </a:p>
        </p:txBody>
      </p:sp>
      <p:sp>
        <p:nvSpPr>
          <p:cNvPr id="8" name="Text 5"/>
          <p:cNvSpPr txBox="1"/>
          <p:nvPr/>
        </p:nvSpPr>
        <p:spPr>
          <a:xfrm>
            <a:off x="82296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Arias 문장에서 "무엇이 무엇에 쓰이는지" 찾기</a:t>
            </a:r>
            <a:endParaRPr lang="en-US" sz="1400" dirty="0"/>
          </a:p>
        </p:txBody>
      </p:sp>
      <p:sp>
        <p:nvSpPr>
          <p:cNvPr id="9" name="Text 6"/>
          <p:cNvSpPr txBox="1"/>
          <p:nvPr/>
        </p:nvSpPr>
        <p:spPr>
          <a:xfrm>
            <a:off x="82296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인용근거 · 연결</a:t>
            </a:r>
            <a:endParaRPr lang="en-US" sz="1300" dirty="0"/>
          </a:p>
        </p:txBody>
      </p:sp>
      <p:sp>
        <p:nvSpPr>
          <p:cNvPr id="10" name="Text 7"/>
          <p:cNvSpPr txBox="1"/>
          <p:nvPr/>
        </p:nvSpPr>
        <p:spPr>
          <a:xfrm>
            <a:off x="313639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11" name="step1"/>
          <p:cNvSpPr/>
          <p:nvPr/>
        </p:nvSpPr>
        <p:spPr>
          <a:xfrm>
            <a:off x="338328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2" name="badge"/>
          <p:cNvSpPr/>
          <p:nvPr/>
        </p:nvSpPr>
        <p:spPr>
          <a:xfrm>
            <a:off x="3657600" y="1783080"/>
            <a:ext cx="640080" cy="640080"/>
          </a:xfrm>
          <a:prstGeom prst="ellipse">
            <a:avLst/>
          </a:prstGeom>
          <a:solidFill>
            <a:schemeClr val="accent1"/>
          </a:solidFill>
          <a:ln w="6350">
            <a:solidFill>
              <a:schemeClr val="accent1"/>
            </a:solidFill>
            <a:prstDash val="solid"/>
          </a:ln>
        </p:spPr>
      </p:sp>
      <p:sp>
        <p:nvSpPr>
          <p:cNvPr id="13" name="Text 10"/>
          <p:cNvSpPr txBox="1"/>
          <p:nvPr/>
        </p:nvSpPr>
        <p:spPr>
          <a:xfrm>
            <a:off x="365760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2</a:t>
            </a:r>
            <a:endParaRPr lang="en-US" sz="2100" dirty="0"/>
          </a:p>
        </p:txBody>
      </p:sp>
      <p:sp>
        <p:nvSpPr>
          <p:cNvPr id="14" name="Text 11"/>
          <p:cNvSpPr txBox="1"/>
          <p:nvPr/>
        </p:nvSpPr>
        <p:spPr>
          <a:xfrm>
            <a:off x="365760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객체·관계 정의</a:t>
            </a:r>
            <a:endParaRPr lang="en-US" sz="1900" dirty="0"/>
          </a:p>
        </p:txBody>
      </p:sp>
      <p:sp>
        <p:nvSpPr>
          <p:cNvPr id="15" name="Text 12"/>
          <p:cNvSpPr txBox="1"/>
          <p:nvPr/>
        </p:nvSpPr>
        <p:spPr>
          <a:xfrm>
            <a:off x="365760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22개 객체, 31개 연결, 11개 관계동사</a:t>
            </a:r>
            <a:endParaRPr lang="en-US" sz="1400" dirty="0"/>
          </a:p>
        </p:txBody>
      </p:sp>
      <p:sp>
        <p:nvSpPr>
          <p:cNvPr id="16" name="Text 13"/>
          <p:cNvSpPr txBox="1"/>
          <p:nvPr/>
        </p:nvSpPr>
        <p:spPr>
          <a:xfrm>
            <a:off x="365760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객체 · 관계동사</a:t>
            </a:r>
            <a:endParaRPr lang="en-US" sz="1300" dirty="0"/>
          </a:p>
        </p:txBody>
      </p:sp>
      <p:sp>
        <p:nvSpPr>
          <p:cNvPr id="17" name="Text 14"/>
          <p:cNvSpPr txBox="1"/>
          <p:nvPr/>
        </p:nvSpPr>
        <p:spPr>
          <a:xfrm>
            <a:off x="597103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18" name="step2"/>
          <p:cNvSpPr/>
          <p:nvPr/>
        </p:nvSpPr>
        <p:spPr>
          <a:xfrm>
            <a:off x="621792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9" name="badge"/>
          <p:cNvSpPr/>
          <p:nvPr/>
        </p:nvSpPr>
        <p:spPr>
          <a:xfrm>
            <a:off x="6492240" y="1783080"/>
            <a:ext cx="640080" cy="640080"/>
          </a:xfrm>
          <a:prstGeom prst="ellipse">
            <a:avLst/>
          </a:prstGeom>
          <a:solidFill>
            <a:schemeClr val="accent1"/>
          </a:solidFill>
          <a:ln w="6350">
            <a:solidFill>
              <a:schemeClr val="accent1"/>
            </a:solidFill>
            <a:prstDash val="solid"/>
          </a:ln>
        </p:spPr>
      </p:sp>
      <p:sp>
        <p:nvSpPr>
          <p:cNvPr id="20" name="Text 17"/>
          <p:cNvSpPr txBox="1"/>
          <p:nvPr/>
        </p:nvSpPr>
        <p:spPr>
          <a:xfrm>
            <a:off x="649224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21" name="Text 18"/>
          <p:cNvSpPr txBox="1"/>
          <p:nvPr/>
        </p:nvSpPr>
        <p:spPr>
          <a:xfrm>
            <a:off x="649224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품질 문항화</a:t>
            </a:r>
            <a:endParaRPr lang="en-US" sz="1900" dirty="0"/>
          </a:p>
        </p:txBody>
      </p:sp>
      <p:sp>
        <p:nvSpPr>
          <p:cNvPr id="22" name="Text 19"/>
          <p:cNvSpPr txBox="1"/>
          <p:nvPr/>
        </p:nvSpPr>
        <p:spPr>
          <a:xfrm>
            <a:off x="649224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연결마다 5~6개 차원 문항 163개</a:t>
            </a:r>
            <a:endParaRPr lang="en-US" sz="1400" dirty="0"/>
          </a:p>
        </p:txBody>
      </p:sp>
      <p:sp>
        <p:nvSpPr>
          <p:cNvPr id="23" name="Text 20"/>
          <p:cNvSpPr txBox="1"/>
          <p:nvPr/>
        </p:nvSpPr>
        <p:spPr>
          <a:xfrm>
            <a:off x="649224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품질차원 · 문항</a:t>
            </a:r>
            <a:endParaRPr lang="en-US" sz="1300" dirty="0"/>
          </a:p>
        </p:txBody>
      </p:sp>
      <p:sp>
        <p:nvSpPr>
          <p:cNvPr id="24" name="Text 21"/>
          <p:cNvSpPr txBox="1"/>
          <p:nvPr/>
        </p:nvSpPr>
        <p:spPr>
          <a:xfrm>
            <a:off x="8805672" y="3017520"/>
            <a:ext cx="274320" cy="365760"/>
          </a:xfrm>
          <a:prstGeom prst="rect">
            <a:avLst/>
          </a:prstGeom>
          <a:noFill/>
          <a:ln/>
        </p:spPr>
        <p:txBody>
          <a:bodyPr wrap="square" lIns="0" tIns="0" rIns="0" bIns="0" rtlCol="0" anchor="ctr"/>
          <a:lstStyle/>
          <a:p>
            <a:pPr algn="ctr" indent="0" marL="0">
              <a:buNone/>
            </a:pPr>
            <a:r>
              <a:rPr lang="en-US" sz="1600" dirty="0">
                <a:solidFill>
                  <a:schemeClr val="accent1"/>
                </a:solidFill>
              </a:rPr>
              <a:t>▶</a:t>
            </a:r>
            <a:endParaRPr lang="en-US" sz="1600" dirty="0"/>
          </a:p>
        </p:txBody>
      </p:sp>
      <p:sp>
        <p:nvSpPr>
          <p:cNvPr id="25" name="step3"/>
          <p:cNvSpPr/>
          <p:nvPr/>
        </p:nvSpPr>
        <p:spPr>
          <a:xfrm>
            <a:off x="9052560" y="1554480"/>
            <a:ext cx="2633472" cy="3383280"/>
          </a:xfrm>
          <a:prstGeom prst="roundRect">
            <a:avLst>
              <a:gd name="adj" fmla="val 416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6" name="badge"/>
          <p:cNvSpPr/>
          <p:nvPr/>
        </p:nvSpPr>
        <p:spPr>
          <a:xfrm>
            <a:off x="9326880" y="1783080"/>
            <a:ext cx="640080" cy="640080"/>
          </a:xfrm>
          <a:prstGeom prst="ellipse">
            <a:avLst/>
          </a:prstGeom>
          <a:solidFill>
            <a:schemeClr val="accent1"/>
          </a:solidFill>
          <a:ln w="6350">
            <a:solidFill>
              <a:schemeClr val="accent1"/>
            </a:solidFill>
            <a:prstDash val="solid"/>
          </a:ln>
        </p:spPr>
      </p:sp>
      <p:sp>
        <p:nvSpPr>
          <p:cNvPr id="27" name="Text 24"/>
          <p:cNvSpPr txBox="1"/>
          <p:nvPr/>
        </p:nvSpPr>
        <p:spPr>
          <a:xfrm>
            <a:off x="9326880" y="1783080"/>
            <a:ext cx="640080" cy="640080"/>
          </a:xfrm>
          <a:prstGeom prst="rect">
            <a:avLst/>
          </a:prstGeom>
          <a:noFill/>
          <a:ln/>
        </p:spPr>
        <p:txBody>
          <a:bodyPr wrap="square" lIns="0" tIns="0" rIns="0" bIns="0" rtlCol="0" anchor="ctr"/>
          <a:lstStyle/>
          <a:p>
            <a:pPr algn="ctr" indent="0" marL="0">
              <a:buNone/>
            </a:pPr>
            <a:r>
              <a:rPr lang="en-US" sz="2100" b="1" dirty="0">
                <a:solidFill>
                  <a:schemeClr val="bg1"/>
                </a:solidFill>
              </a:rPr>
              <a:t>4</a:t>
            </a:r>
            <a:endParaRPr lang="en-US" sz="2100" dirty="0"/>
          </a:p>
        </p:txBody>
      </p:sp>
      <p:sp>
        <p:nvSpPr>
          <p:cNvPr id="28" name="Text 25"/>
          <p:cNvSpPr txBox="1"/>
          <p:nvPr/>
        </p:nvSpPr>
        <p:spPr>
          <a:xfrm>
            <a:off x="9326880" y="2606040"/>
            <a:ext cx="2194560" cy="457200"/>
          </a:xfrm>
          <a:prstGeom prst="rect">
            <a:avLst/>
          </a:prstGeom>
          <a:noFill/>
          <a:ln/>
        </p:spPr>
        <p:txBody>
          <a:bodyPr wrap="square" lIns="0" tIns="0" rIns="0" bIns="0" rtlCol="0" anchor="t"/>
          <a:lstStyle/>
          <a:p>
            <a:pPr indent="0" marL="0">
              <a:buNone/>
            </a:pPr>
            <a:r>
              <a:rPr lang="en-US" sz="1900" b="1" dirty="0">
                <a:solidFill>
                  <a:schemeClr val="tx2"/>
                </a:solidFill>
              </a:rPr>
              <a:t>검증</a:t>
            </a:r>
            <a:endParaRPr lang="en-US" sz="1900" dirty="0"/>
          </a:p>
        </p:txBody>
      </p:sp>
      <p:sp>
        <p:nvSpPr>
          <p:cNvPr id="29" name="Text 26"/>
          <p:cNvSpPr txBox="1"/>
          <p:nvPr/>
        </p:nvSpPr>
        <p:spPr>
          <a:xfrm>
            <a:off x="9326880" y="3108960"/>
            <a:ext cx="2148840" cy="1097280"/>
          </a:xfrm>
          <a:prstGeom prst="rect">
            <a:avLst/>
          </a:prstGeom>
          <a:noFill/>
          <a:ln/>
        </p:spPr>
        <p:txBody>
          <a:bodyPr wrap="square" lIns="0" tIns="0" rIns="0" bIns="0" rtlCol="0" anchor="t"/>
          <a:lstStyle/>
          <a:p>
            <a:pPr indent="0" marL="0">
              <a:buNone/>
            </a:pPr>
            <a:r>
              <a:rPr lang="en-US" sz="1400" dirty="0">
                <a:solidFill>
                  <a:schemeClr val="tx1"/>
                </a:solidFill>
              </a:rPr>
              <a:t>근거 확인, 전문가, 변별타당도</a:t>
            </a:r>
            <a:endParaRPr lang="en-US" sz="1400" dirty="0"/>
          </a:p>
        </p:txBody>
      </p:sp>
      <p:sp>
        <p:nvSpPr>
          <p:cNvPr id="30" name="Text 27"/>
          <p:cNvSpPr txBox="1"/>
          <p:nvPr/>
        </p:nvSpPr>
        <p:spPr>
          <a:xfrm>
            <a:off x="9326880" y="4343400"/>
            <a:ext cx="2194560" cy="457200"/>
          </a:xfrm>
          <a:prstGeom prst="rect">
            <a:avLst/>
          </a:prstGeom>
          <a:noFill/>
          <a:ln/>
        </p:spPr>
        <p:txBody>
          <a:bodyPr wrap="square" lIns="0" tIns="0" rIns="0" bIns="0" rtlCol="0" anchor="t"/>
          <a:lstStyle/>
          <a:p>
            <a:pPr indent="0" marL="0">
              <a:buNone/>
            </a:pPr>
            <a:r>
              <a:rPr lang="en-US" sz="1300" b="1" dirty="0">
                <a:solidFill>
                  <a:schemeClr val="accent2"/>
                </a:solidFill>
              </a:rPr>
              <a:t>엑셀: 학술근거 · 검증</a:t>
            </a:r>
            <a:endParaRPr lang="en-US" sz="1300" dirty="0"/>
          </a:p>
        </p:txBody>
      </p:sp>
      <p:sp>
        <p:nvSpPr>
          <p:cNvPr id="31" name="tagline"/>
          <p:cNvSpPr/>
          <p:nvPr/>
        </p:nvSpPr>
        <p:spPr>
          <a:xfrm>
            <a:off x="548640" y="5212080"/>
            <a:ext cx="11091672" cy="868680"/>
          </a:xfrm>
          <a:prstGeom prst="roundRect">
            <a:avLst>
              <a:gd name="adj" fmla="val 12632"/>
            </a:avLst>
          </a:prstGeom>
          <a:solidFill>
            <a:schemeClr val="tx2"/>
          </a:solidFill>
          <a:ln w="6350">
            <a:solidFill>
              <a:schemeClr val="tx2"/>
            </a:solidFill>
            <a:prstDash val="solid"/>
          </a:ln>
        </p:spPr>
      </p:sp>
      <p:sp>
        <p:nvSpPr>
          <p:cNvPr id="32" name="Text 29"/>
          <p:cNvSpPr txBox="1"/>
          <p:nvPr/>
        </p:nvSpPr>
        <p:spPr>
          <a:xfrm>
            <a:off x="914400" y="5212080"/>
            <a:ext cx="10360152" cy="868680"/>
          </a:xfrm>
          <a:prstGeom prst="rect">
            <a:avLst/>
          </a:prstGeom>
          <a:noFill/>
          <a:ln/>
        </p:spPr>
        <p:txBody>
          <a:bodyPr wrap="square" lIns="0" tIns="0" rIns="0" bIns="0" rtlCol="0" anchor="ctr"/>
          <a:lstStyle/>
          <a:p>
            <a:pPr algn="ctr" indent="0" marL="0">
              <a:buNone/>
            </a:pPr>
            <a:r>
              <a:rPr lang="en-US" sz="1500" b="1" dirty="0">
                <a:solidFill>
                  <a:schemeClr val="bg1"/>
                </a:solidFill>
              </a:rPr>
              <a:t>온톨로지는 "무엇과 무엇의 연결을 재는가"를 정하고, 설문은 "그 연결이 얼마나 잘 작동하는가"를 잰다</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1단계: 문장에서 바통 찾기</a:t>
            </a:r>
            <a:endParaRPr lang="en-US" sz="3200" dirty="0"/>
          </a:p>
        </p:txBody>
      </p:sp>
      <p:sp>
        <p:nvSpPr>
          <p:cNvPr id="4" name="quoteL01"/>
          <p:cNvSpPr/>
          <p:nvPr/>
        </p:nvSpPr>
        <p:spPr>
          <a:xfrm>
            <a:off x="548640" y="1371600"/>
            <a:ext cx="5440680" cy="3383280"/>
          </a:xfrm>
          <a:prstGeom prst="roundRect">
            <a:avLst>
              <a:gd name="adj" fmla="val 324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chip"/>
          <p:cNvSpPr/>
          <p:nvPr/>
        </p:nvSpPr>
        <p:spPr>
          <a:xfrm>
            <a:off x="822960" y="1600200"/>
            <a:ext cx="1737360" cy="310896"/>
          </a:xfrm>
          <a:prstGeom prst="roundRect">
            <a:avLst>
              <a:gd name="adj" fmla="val 50000"/>
            </a:avLst>
          </a:prstGeom>
          <a:solidFill>
            <a:srgbClr val="1F6F8B"/>
          </a:solidFill>
          <a:ln w="6350">
            <a:solidFill>
              <a:srgbClr val="1F6F8B"/>
            </a:solidFill>
            <a:prstDash val="solid"/>
          </a:ln>
        </p:spPr>
      </p:sp>
      <p:sp>
        <p:nvSpPr>
          <p:cNvPr id="6" name="Text 3"/>
          <p:cNvSpPr txBox="1"/>
          <p:nvPr/>
        </p:nvSpPr>
        <p:spPr>
          <a:xfrm>
            <a:off x="822960" y="1600200"/>
            <a:ext cx="1737360" cy="310896"/>
          </a:xfrm>
          <a:prstGeom prst="rect">
            <a:avLst/>
          </a:prstGeom>
          <a:noFill/>
          <a:ln/>
        </p:spPr>
        <p:txBody>
          <a:bodyPr wrap="square" lIns="0" tIns="0" rIns="0" bIns="0" rtlCol="0" anchor="ctr"/>
          <a:lstStyle/>
          <a:p>
            <a:pPr algn="ctr" indent="0" marL="0">
              <a:buNone/>
            </a:pPr>
            <a:r>
              <a:rPr lang="en-US" sz="1200" b="1" dirty="0">
                <a:solidFill>
                  <a:schemeClr val="bg1"/>
                </a:solidFill>
              </a:rPr>
              <a:t>인용 · Arias p.15</a:t>
            </a:r>
            <a:endParaRPr lang="en-US" sz="1200" dirty="0"/>
          </a:p>
        </p:txBody>
      </p:sp>
      <p:sp>
        <p:nvSpPr>
          <p:cNvPr id="7" name="Text 4"/>
          <p:cNvSpPr txBox="1"/>
          <p:nvPr/>
        </p:nvSpPr>
        <p:spPr>
          <a:xfrm>
            <a:off x="822960" y="2057400"/>
            <a:ext cx="4937760" cy="1554480"/>
          </a:xfrm>
          <a:prstGeom prst="rect">
            <a:avLst/>
          </a:prstGeom>
          <a:noFill/>
          <a:ln/>
        </p:spPr>
        <p:txBody>
          <a:bodyPr wrap="square" lIns="0" tIns="0" rIns="0" bIns="0" rtlCol="0" anchor="t"/>
          <a:lstStyle/>
          <a:p>
            <a:pPr indent="0" marL="0">
              <a:buNone/>
            </a:pPr>
            <a:r>
              <a:rPr lang="en-US" sz="1500" i="1" dirty="0">
                <a:solidFill>
                  <a:schemeClr val="tx1"/>
                </a:solidFill>
              </a:rPr>
              <a:t>"These requirements inform processes such as business impact assessment and criticality analysis, risk assessment, internal audits, and supply chain management."</a:t>
            </a:r>
            <a:endParaRPr lang="en-US" sz="1500" dirty="0"/>
          </a:p>
        </p:txBody>
      </p:sp>
      <p:sp>
        <p:nvSpPr>
          <p:cNvPr id="8" name="Text 5"/>
          <p:cNvSpPr txBox="1"/>
          <p:nvPr/>
        </p:nvSpPr>
        <p:spPr>
          <a:xfrm>
            <a:off x="822960" y="3703320"/>
            <a:ext cx="4937760" cy="1005840"/>
          </a:xfrm>
          <a:prstGeom prst="rect">
            <a:avLst/>
          </a:prstGeom>
          <a:noFill/>
          <a:ln/>
        </p:spPr>
        <p:txBody>
          <a:bodyPr wrap="square" lIns="0" tIns="0" rIns="0" bIns="0" rtlCol="0" anchor="t"/>
          <a:lstStyle/>
          <a:p>
            <a:pPr indent="0" marL="0">
              <a:buNone/>
            </a:pPr>
            <a:r>
              <a:rPr lang="en-US" sz="1300" dirty="0">
                <a:solidFill>
                  <a:schemeClr val="accent6"/>
                </a:solidFill>
              </a:rPr>
              <a:t>이 요구사항들은 BIA·중요도 분석, 리스크평가, 내부감사, 공급망관리와 같은 프로세스에 정보를 제공한다.</a:t>
            </a:r>
            <a:endParaRPr lang="en-US" sz="1300" dirty="0"/>
          </a:p>
        </p:txBody>
      </p:sp>
      <p:sp>
        <p:nvSpPr>
          <p:cNvPr id="9" name="opinionL01"/>
          <p:cNvSpPr/>
          <p:nvPr/>
        </p:nvSpPr>
        <p:spPr>
          <a:xfrm>
            <a:off x="6199632" y="1371600"/>
            <a:ext cx="5440680" cy="3383280"/>
          </a:xfrm>
          <a:prstGeom prst="roundRect">
            <a:avLst>
              <a:gd name="adj" fmla="val 324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chip"/>
          <p:cNvSpPr/>
          <p:nvPr/>
        </p:nvSpPr>
        <p:spPr>
          <a:xfrm>
            <a:off x="6473952" y="1600200"/>
            <a:ext cx="1371600" cy="310896"/>
          </a:xfrm>
          <a:prstGeom prst="roundRect">
            <a:avLst>
              <a:gd name="adj" fmla="val 50000"/>
            </a:avLst>
          </a:prstGeom>
          <a:solidFill>
            <a:srgbClr val="F26B38"/>
          </a:solidFill>
          <a:ln w="6350">
            <a:solidFill>
              <a:srgbClr val="F26B38"/>
            </a:solidFill>
            <a:prstDash val="solid"/>
          </a:ln>
        </p:spPr>
      </p:sp>
      <p:sp>
        <p:nvSpPr>
          <p:cNvPr id="11" name="Text 8"/>
          <p:cNvSpPr txBox="1"/>
          <p:nvPr/>
        </p:nvSpPr>
        <p:spPr>
          <a:xfrm>
            <a:off x="6473952" y="160020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연구자 의견</a:t>
            </a:r>
            <a:endParaRPr lang="en-US" sz="1200" dirty="0"/>
          </a:p>
        </p:txBody>
      </p:sp>
      <p:sp>
        <p:nvSpPr>
          <p:cNvPr id="12" name="Text 9"/>
          <p:cNvSpPr txBox="1"/>
          <p:nvPr/>
        </p:nvSpPr>
        <p:spPr>
          <a:xfrm>
            <a:off x="6473952" y="2103120"/>
            <a:ext cx="4937760" cy="246888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관계동사: "inform"을 "입력된다·활용된다"로 분류했습니다.</a:t>
            </a:r>
            <a:endParaRPr lang="en-US" sz="1500" dirty="0"/>
          </a:p>
          <a:p>
            <a:pPr marL="342900" indent="-342900">
              <a:spcAft>
                <a:spcPts val="1000"/>
              </a:spcAft>
              <a:buSzPct val="100000"/>
              <a:buChar char="•"/>
            </a:pPr>
            <a:r>
              <a:rPr lang="en-US" sz="1500" dirty="0">
                <a:solidFill>
                  <a:schemeClr val="tx1"/>
                </a:solidFill>
              </a:rPr>
              <a:t>한 문장에 4개가 있어 4개 연결(L01·L02·L04·L05)로 쪼갰습니다.</a:t>
            </a:r>
            <a:endParaRPr lang="en-US" sz="1500" dirty="0"/>
          </a:p>
          <a:p>
            <a:pPr marL="342900" indent="-342900">
              <a:spcAft>
                <a:spcPts val="1000"/>
              </a:spcAft>
              <a:buSzPct val="100000"/>
              <a:buChar char="•"/>
            </a:pPr>
            <a:r>
              <a:rPr lang="en-US" sz="1500" dirty="0">
                <a:solidFill>
                  <a:schemeClr val="tx1"/>
                </a:solidFill>
              </a:rPr>
              <a:t>전문가 패널에게 "정말 입력되는가"를 물어 확인할 예정입니다.</a:t>
            </a:r>
            <a:endParaRPr lang="en-US" sz="1500" dirty="0"/>
          </a:p>
        </p:txBody>
      </p:sp>
      <p:sp>
        <p:nvSpPr>
          <p:cNvPr id="13" name="node"/>
          <p:cNvSpPr/>
          <p:nvPr/>
        </p:nvSpPr>
        <p:spPr>
          <a:xfrm>
            <a:off x="1645920" y="5074920"/>
            <a:ext cx="3108960" cy="1005840"/>
          </a:xfrm>
          <a:prstGeom prst="roundRect">
            <a:avLst>
              <a:gd name="adj" fmla="val 10909"/>
            </a:avLst>
          </a:prstGeom>
          <a:solidFill>
            <a:schemeClr val="accent2"/>
          </a:solidFill>
          <a:ln w="6350">
            <a:solidFill>
              <a:schemeClr val="accent2"/>
            </a:solidFill>
            <a:prstDash val="solid"/>
          </a:ln>
        </p:spPr>
      </p:sp>
      <p:sp>
        <p:nvSpPr>
          <p:cNvPr id="14" name="Text 11"/>
          <p:cNvSpPr txBox="1"/>
          <p:nvPr/>
        </p:nvSpPr>
        <p:spPr>
          <a:xfrm>
            <a:off x="1645920" y="5074920"/>
            <a:ext cx="3108960" cy="1005840"/>
          </a:xfrm>
          <a:prstGeom prst="rect">
            <a:avLst/>
          </a:prstGeom>
          <a:noFill/>
          <a:ln/>
        </p:spPr>
        <p:txBody>
          <a:bodyPr wrap="square" lIns="0" tIns="0" rIns="0" bIns="0" rtlCol="0" anchor="ctr"/>
          <a:lstStyle/>
          <a:p>
            <a:pPr algn="ctr" indent="0" marL="0">
              <a:buNone/>
            </a:pPr>
            <a:r>
              <a:rPr lang="en-US" sz="2000" b="1" dirty="0">
                <a:solidFill>
                  <a:schemeClr val="bg1"/>
                </a:solidFill>
              </a:rPr>
              <a:t>REQ</a:t>
            </a:r>
            <a:endParaRPr lang="en-US" sz="2000" dirty="0"/>
          </a:p>
          <a:p>
            <a:pPr algn="ctr" indent="0" marL="0">
              <a:buNone/>
            </a:pPr>
            <a:r>
              <a:rPr lang="en-US" sz="1500" dirty="0">
                <a:solidFill>
                  <a:schemeClr val="bg1"/>
                </a:solidFill>
              </a:rPr>
              <a:t>요구사항관리</a:t>
            </a:r>
            <a:endParaRPr lang="en-US" sz="2000" dirty="0"/>
          </a:p>
        </p:txBody>
      </p:sp>
      <p:sp>
        <p:nvSpPr>
          <p:cNvPr id="15" name="node"/>
          <p:cNvSpPr/>
          <p:nvPr/>
        </p:nvSpPr>
        <p:spPr>
          <a:xfrm>
            <a:off x="7223760" y="5074920"/>
            <a:ext cx="3108960" cy="1005840"/>
          </a:xfrm>
          <a:prstGeom prst="roundRect">
            <a:avLst>
              <a:gd name="adj" fmla="val 10909"/>
            </a:avLst>
          </a:prstGeom>
          <a:solidFill>
            <a:schemeClr val="accent2"/>
          </a:solidFill>
          <a:ln w="6350">
            <a:solidFill>
              <a:schemeClr val="accent2"/>
            </a:solidFill>
            <a:prstDash val="solid"/>
          </a:ln>
        </p:spPr>
      </p:sp>
      <p:sp>
        <p:nvSpPr>
          <p:cNvPr id="16" name="Text 13"/>
          <p:cNvSpPr txBox="1"/>
          <p:nvPr/>
        </p:nvSpPr>
        <p:spPr>
          <a:xfrm>
            <a:off x="7223760" y="5074920"/>
            <a:ext cx="3108960" cy="1005840"/>
          </a:xfrm>
          <a:prstGeom prst="rect">
            <a:avLst/>
          </a:prstGeom>
          <a:noFill/>
          <a:ln/>
        </p:spPr>
        <p:txBody>
          <a:bodyPr wrap="square" lIns="0" tIns="0" rIns="0" bIns="0" rtlCol="0" anchor="ctr"/>
          <a:lstStyle/>
          <a:p>
            <a:pPr algn="ctr" indent="0" marL="0">
              <a:buNone/>
            </a:pPr>
            <a:r>
              <a:rPr lang="en-US" sz="2000" b="1" dirty="0">
                <a:solidFill>
                  <a:schemeClr val="bg1"/>
                </a:solidFill>
              </a:rPr>
              <a:t>BIA</a:t>
            </a:r>
            <a:endParaRPr lang="en-US" sz="2000" dirty="0"/>
          </a:p>
          <a:p>
            <a:pPr algn="ctr" indent="0" marL="0">
              <a:buNone/>
            </a:pPr>
            <a:r>
              <a:rPr lang="en-US" sz="1500" dirty="0">
                <a:solidFill>
                  <a:schemeClr val="bg1"/>
                </a:solidFill>
              </a:rPr>
              <a:t>BIA·중요도 분석</a:t>
            </a:r>
            <a:endParaRPr lang="en-US" sz="2000" dirty="0"/>
          </a:p>
        </p:txBody>
      </p:sp>
      <p:sp>
        <p:nvSpPr>
          <p:cNvPr id="17" name="baton"/>
          <p:cNvSpPr/>
          <p:nvPr/>
        </p:nvSpPr>
        <p:spPr>
          <a:xfrm>
            <a:off x="4937760" y="5303520"/>
            <a:ext cx="2103120" cy="548640"/>
          </a:xfrm>
          <a:prstGeom prst="rightArrow">
            <a:avLst/>
          </a:prstGeom>
          <a:solidFill>
            <a:schemeClr val="accent1"/>
          </a:solidFill>
          <a:ln w="6350">
            <a:solidFill>
              <a:schemeClr val="accent1"/>
            </a:solidFill>
            <a:prstDash val="solid"/>
          </a:ln>
        </p:spPr>
      </p:sp>
      <p:sp>
        <p:nvSpPr>
          <p:cNvPr id="18" name="Text 15"/>
          <p:cNvSpPr txBox="1"/>
          <p:nvPr/>
        </p:nvSpPr>
        <p:spPr>
          <a:xfrm>
            <a:off x="4937760" y="5303520"/>
            <a:ext cx="1737360" cy="548640"/>
          </a:xfrm>
          <a:prstGeom prst="rect">
            <a:avLst/>
          </a:prstGeom>
          <a:noFill/>
          <a:ln/>
        </p:spPr>
        <p:txBody>
          <a:bodyPr wrap="square" lIns="0" tIns="0" rIns="0" bIns="0" rtlCol="0" anchor="ctr"/>
          <a:lstStyle/>
          <a:p>
            <a:pPr algn="ctr" indent="0" marL="0">
              <a:buNone/>
            </a:pPr>
            <a:r>
              <a:rPr lang="en-US" sz="1400" b="1" dirty="0">
                <a:solidFill>
                  <a:schemeClr val="bg1"/>
                </a:solidFill>
              </a:rPr>
              <a:t>입력된다</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2단계: 바통 지도</a:t>
            </a:r>
            <a:endParaRPr lang="en-US" sz="3200" dirty="0"/>
          </a:p>
        </p:txBody>
      </p:sp>
      <p:pic>
        <p:nvPicPr>
          <p:cNvPr id="4" name="Image 0" descr="BCMS 프로세스 연결 온톨로지 맵">    </p:cNvPr>
          <p:cNvPicPr>
            <a:picLocks noChangeAspect="1"/>
          </p:cNvPicPr>
          <p:nvPr/>
        </p:nvPicPr>
        <p:blipFill>
          <a:blip r:embed="rId1"/>
          <a:stretch>
            <a:fillRect/>
          </a:stretch>
        </p:blipFill>
        <p:spPr>
          <a:xfrm>
            <a:off x="548640" y="1325880"/>
            <a:ext cx="6583680" cy="4937760"/>
          </a:xfrm>
          <a:prstGeom prst="rect">
            <a:avLst/>
          </a:prstGeom>
        </p:spPr>
      </p:pic>
      <p:sp>
        <p:nvSpPr>
          <p:cNvPr id="5" name="stat0"/>
          <p:cNvSpPr/>
          <p:nvPr/>
        </p:nvSpPr>
        <p:spPr>
          <a:xfrm>
            <a:off x="7498080" y="146304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7726680" y="1463040"/>
            <a:ext cx="1188720" cy="1143000"/>
          </a:xfrm>
          <a:prstGeom prst="rect">
            <a:avLst/>
          </a:prstGeom>
          <a:noFill/>
          <a:ln/>
        </p:spPr>
        <p:txBody>
          <a:bodyPr wrap="square" lIns="0" tIns="0" rIns="0" bIns="0" rtlCol="0" anchor="ctr"/>
          <a:lstStyle/>
          <a:p>
            <a:pPr indent="0" marL="0">
              <a:buNone/>
            </a:pPr>
            <a:r>
              <a:rPr lang="en-US" sz="4000" b="1" dirty="0">
                <a:solidFill>
                  <a:schemeClr val="accent2"/>
                </a:solidFill>
              </a:rPr>
              <a:t>22</a:t>
            </a:r>
            <a:endParaRPr lang="en-US" sz="4000" dirty="0"/>
          </a:p>
        </p:txBody>
      </p:sp>
      <p:sp>
        <p:nvSpPr>
          <p:cNvPr id="7" name="Text 3"/>
          <p:cNvSpPr txBox="1"/>
          <p:nvPr/>
        </p:nvSpPr>
        <p:spPr>
          <a:xfrm>
            <a:off x="8915400" y="1463040"/>
            <a:ext cx="2651760" cy="1143000"/>
          </a:xfrm>
          <a:prstGeom prst="rect">
            <a:avLst/>
          </a:prstGeom>
          <a:noFill/>
          <a:ln/>
        </p:spPr>
        <p:txBody>
          <a:bodyPr wrap="square" lIns="0" tIns="0" rIns="0" bIns="0" rtlCol="0" anchor="ctr"/>
          <a:lstStyle/>
          <a:p>
            <a:pPr indent="0" marL="0">
              <a:buNone/>
            </a:pPr>
            <a:r>
              <a:rPr lang="en-US" sz="1600" dirty="0">
                <a:solidFill>
                  <a:schemeClr val="tx1"/>
                </a:solidFill>
              </a:rPr>
              <a:t>주자(프로세스)</a:t>
            </a:r>
            <a:endParaRPr lang="en-US" sz="1600" dirty="0"/>
          </a:p>
        </p:txBody>
      </p:sp>
      <p:sp>
        <p:nvSpPr>
          <p:cNvPr id="8" name="stat1"/>
          <p:cNvSpPr/>
          <p:nvPr/>
        </p:nvSpPr>
        <p:spPr>
          <a:xfrm>
            <a:off x="7498080" y="278892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7726680" y="2788920"/>
            <a:ext cx="1188720" cy="1143000"/>
          </a:xfrm>
          <a:prstGeom prst="rect">
            <a:avLst/>
          </a:prstGeom>
          <a:noFill/>
          <a:ln/>
        </p:spPr>
        <p:txBody>
          <a:bodyPr wrap="square" lIns="0" tIns="0" rIns="0" bIns="0" rtlCol="0" anchor="ctr"/>
          <a:lstStyle/>
          <a:p>
            <a:pPr indent="0" marL="0">
              <a:buNone/>
            </a:pPr>
            <a:r>
              <a:rPr lang="en-US" sz="4000" b="1" dirty="0">
                <a:solidFill>
                  <a:schemeClr val="accent1"/>
                </a:solidFill>
              </a:rPr>
              <a:t>31</a:t>
            </a:r>
            <a:endParaRPr lang="en-US" sz="4000" dirty="0"/>
          </a:p>
        </p:txBody>
      </p:sp>
      <p:sp>
        <p:nvSpPr>
          <p:cNvPr id="10" name="Text 6"/>
          <p:cNvSpPr txBox="1"/>
          <p:nvPr/>
        </p:nvSpPr>
        <p:spPr>
          <a:xfrm>
            <a:off x="8915400" y="2788920"/>
            <a:ext cx="2651760" cy="1143000"/>
          </a:xfrm>
          <a:prstGeom prst="rect">
            <a:avLst/>
          </a:prstGeom>
          <a:noFill/>
          <a:ln/>
        </p:spPr>
        <p:txBody>
          <a:bodyPr wrap="square" lIns="0" tIns="0" rIns="0" bIns="0" rtlCol="0" anchor="ctr"/>
          <a:lstStyle/>
          <a:p>
            <a:pPr indent="0" marL="0">
              <a:buNone/>
            </a:pPr>
            <a:r>
              <a:rPr lang="en-US" sz="1600" dirty="0">
                <a:solidFill>
                  <a:schemeClr val="tx1"/>
                </a:solidFill>
              </a:rPr>
              <a:t>연결 (바통 전달)</a:t>
            </a:r>
            <a:endParaRPr lang="en-US" sz="1600" dirty="0"/>
          </a:p>
        </p:txBody>
      </p:sp>
      <p:sp>
        <p:nvSpPr>
          <p:cNvPr id="11" name="stat2"/>
          <p:cNvSpPr/>
          <p:nvPr/>
        </p:nvSpPr>
        <p:spPr>
          <a:xfrm>
            <a:off x="7498080" y="4114800"/>
            <a:ext cx="4142232" cy="1143000"/>
          </a:xfrm>
          <a:prstGeom prst="roundRect">
            <a:avLst>
              <a:gd name="adj" fmla="val 96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7726680" y="4114800"/>
            <a:ext cx="1188720" cy="1143000"/>
          </a:xfrm>
          <a:prstGeom prst="rect">
            <a:avLst/>
          </a:prstGeom>
          <a:noFill/>
          <a:ln/>
        </p:spPr>
        <p:txBody>
          <a:bodyPr wrap="square" lIns="0" tIns="0" rIns="0" bIns="0" rtlCol="0" anchor="ctr"/>
          <a:lstStyle/>
          <a:p>
            <a:pPr indent="0" marL="0">
              <a:buNone/>
            </a:pPr>
            <a:r>
              <a:rPr lang="en-US" sz="4000" b="1" dirty="0">
                <a:solidFill>
                  <a:schemeClr val="accent3"/>
                </a:solidFill>
              </a:rPr>
              <a:t>11</a:t>
            </a:r>
            <a:endParaRPr lang="en-US" sz="4000" dirty="0"/>
          </a:p>
        </p:txBody>
      </p:sp>
      <p:sp>
        <p:nvSpPr>
          <p:cNvPr id="13" name="Text 9"/>
          <p:cNvSpPr txBox="1"/>
          <p:nvPr/>
        </p:nvSpPr>
        <p:spPr>
          <a:xfrm>
            <a:off x="8915400" y="4114800"/>
            <a:ext cx="2651760" cy="1143000"/>
          </a:xfrm>
          <a:prstGeom prst="rect">
            <a:avLst/>
          </a:prstGeom>
          <a:noFill/>
          <a:ln/>
        </p:spPr>
        <p:txBody>
          <a:bodyPr wrap="square" lIns="0" tIns="0" rIns="0" bIns="0" rtlCol="0" anchor="ctr"/>
          <a:lstStyle/>
          <a:p>
            <a:pPr indent="0" marL="0">
              <a:buNone/>
            </a:pPr>
            <a:r>
              <a:rPr lang="en-US" sz="1600" dirty="0">
                <a:solidFill>
                  <a:schemeClr val="tx1"/>
                </a:solidFill>
              </a:rPr>
              <a:t>관계동사</a:t>
            </a:r>
            <a:endParaRPr lang="en-US" sz="1600" dirty="0"/>
          </a:p>
        </p:txBody>
      </p:sp>
      <p:sp>
        <p:nvSpPr>
          <p:cNvPr id="14" name="Text 10"/>
          <p:cNvSpPr txBox="1"/>
          <p:nvPr/>
        </p:nvSpPr>
        <p:spPr>
          <a:xfrm>
            <a:off x="7498080" y="5486400"/>
            <a:ext cx="4142232" cy="731520"/>
          </a:xfrm>
          <a:prstGeom prst="rect">
            <a:avLst/>
          </a:prstGeom>
          <a:noFill/>
          <a:ln/>
        </p:spPr>
        <p:txBody>
          <a:bodyPr wrap="square" lIns="0" tIns="0" rIns="0" bIns="0" rtlCol="0" anchor="t"/>
          <a:lstStyle/>
          <a:p>
            <a:pPr indent="0" marL="0">
              <a:buNone/>
            </a:pPr>
            <a:r>
              <a:rPr lang="en-US" sz="1300" dirty="0">
                <a:solidFill>
                  <a:schemeClr val="accent6"/>
                </a:solidFill>
              </a:rPr>
              <a:t>선 모양: 실선 = 논문이 직접 서술 · 파선 = 일부 보완 · 빨간 점선 = 가설</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관계층: 관계동사 11개</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7680960" cy="914400"/>
        </p:xfrm>
        <a:graphic>
          <a:graphicData uri="http://schemas.openxmlformats.org/drawingml/2006/table">
            <a:tbl>
              <a:tblPr/>
              <a:tblGrid>
                <a:gridCol w="2103120"/>
                <a:gridCol w="4663440"/>
                <a:gridCol w="914400"/>
              </a:tblGrid>
              <a:tr h="384048">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관계동사</a:t>
                      </a:r>
                      <a:endParaRPr lang="en-US" sz="1300" dirty="0">
                        <a:latin typeface="맑은 고딕" charset="0"/>
                        <a:ea typeface="맑은 고딕" charset="0"/>
                        <a:cs typeface="맑은 고딕" charset="0"/>
                      </a:endParaRPr>
                    </a:p>
                  </a:txBody>
                  <a:tcPr marL="91440" marR="91440" marT="45720" marB="45720">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Arias 원문 동사</a:t>
                      </a:r>
                      <a:endParaRPr lang="en-US" sz="1300" dirty="0">
                        <a:latin typeface="맑은 고딕" charset="0"/>
                        <a:ea typeface="맑은 고딕" charset="0"/>
                        <a:cs typeface="맑은 고딕" charset="0"/>
                      </a:endParaRPr>
                    </a:p>
                  </a:txBody>
                  <a:tcPr marL="91440" marR="91440" marT="45720" marB="45720">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연결</a:t>
                      </a:r>
                      <a:endParaRPr lang="en-US" sz="1300" dirty="0">
                        <a:latin typeface="맑은 고딕" charset="0"/>
                        <a:ea typeface="맑은 고딕" charset="0"/>
                        <a:cs typeface="맑은 고딕" charset="0"/>
                      </a:endParaRPr>
                    </a:p>
                  </a:txBody>
                  <a:tcPr marL="91440" marR="91440" marT="45720" marB="45720">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입력된다·활용된다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inform / essential input / serve as inputs</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8개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근거가 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relies on … as its foundation / guide the determination and selection</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2개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도출·이행된다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derived from / executed as planned / through the execution of</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4개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시험·검증된다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tested regularly to validate their effectiveness</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1개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수행을 촉발한다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initiation of / as those processes initiated them</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3개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개정·갱신한다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prompt any necessary adjustments / necessary changes (for DOC) / updating</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2개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환류된다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are used to improve / results of changes … as those processes initiated them</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5개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포함한다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includes two primary subprocesses</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2개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제공한다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outputs … include documented resources / reports on resource utilization</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3개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승인한다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securing of executive approval of the BIA findings</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미사용</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384048">
                <a:tc>
                  <a:txBody>
                    <a:bodyPr/>
                    <a:lstStyle/>
                    <a:p>
                      <a:pPr indent="0" marL="0">
                        <a:buNone/>
                      </a:pPr>
                      <a:r>
                        <a:rPr lang="en-US" sz="1300" b="1" dirty="0">
                          <a:solidFill>
                            <a:srgbClr val="000000"/>
                          </a:solidFill>
                          <a:latin typeface="맑은 고딕" pitchFamily="34" charset="0"/>
                          <a:ea typeface="맑은 고딕" pitchFamily="34" charset="-122"/>
                          <a:cs typeface="맑은 고딕" pitchFamily="34" charset="-120"/>
                        </a:rPr>
                        <a:t>전달된다</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200" dirty="0">
                          <a:solidFill>
                            <a:srgbClr val="000000"/>
                          </a:solidFill>
                          <a:latin typeface="맑은 고딕" pitchFamily="34" charset="0"/>
                          <a:ea typeface="맑은 고딕" pitchFamily="34" charset="-122"/>
                          <a:cs typeface="맑은 고딕" pitchFamily="34" charset="-120"/>
                        </a:rPr>
                        <a:t>are communicated centrally to stakeholders</a:t>
                      </a:r>
                      <a:endParaRPr lang="en-US" sz="12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300" dirty="0">
                          <a:solidFill>
                            <a:srgbClr val="000000"/>
                          </a:solidFill>
                          <a:latin typeface="맑은 고딕" pitchFamily="34" charset="0"/>
                          <a:ea typeface="맑은 고딕" pitchFamily="34" charset="-122"/>
                          <a:cs typeface="맑은 고딕" pitchFamily="34" charset="-120"/>
                        </a:rPr>
                        <a:t>1개</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5" name="moveCard"/>
          <p:cNvSpPr/>
          <p:nvPr/>
        </p:nvSpPr>
        <p:spPr>
          <a:xfrm>
            <a:off x="8503920" y="1325880"/>
            <a:ext cx="3136392" cy="4663440"/>
          </a:xfrm>
          <a:prstGeom prst="roundRect">
            <a:avLst>
              <a:gd name="adj" fmla="val 3499"/>
            </a:avLst>
          </a:prstGeom>
          <a:solidFill>
            <a:schemeClr val="tx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8732520" y="1508760"/>
            <a:ext cx="2743200" cy="457200"/>
          </a:xfrm>
          <a:prstGeom prst="rect">
            <a:avLst/>
          </a:prstGeom>
          <a:noFill/>
          <a:ln/>
        </p:spPr>
        <p:txBody>
          <a:bodyPr wrap="square" lIns="0" tIns="0" rIns="0" bIns="0" rtlCol="0" anchor="t"/>
          <a:lstStyle/>
          <a:p>
            <a:pPr indent="0" marL="0">
              <a:buNone/>
            </a:pPr>
            <a:r>
              <a:rPr lang="en-US" sz="1700" b="1" dirty="0">
                <a:solidFill>
                  <a:schemeClr val="bg1"/>
                </a:solidFill>
              </a:rPr>
              <a:t>품질층으로 옮긴 동사</a:t>
            </a:r>
            <a:endParaRPr lang="en-US" sz="1700" dirty="0"/>
          </a:p>
        </p:txBody>
      </p:sp>
      <p:sp>
        <p:nvSpPr>
          <p:cNvPr id="7" name="Text 3"/>
          <p:cNvSpPr txBox="1"/>
          <p:nvPr/>
        </p:nvSpPr>
        <p:spPr>
          <a:xfrm>
            <a:off x="8732520" y="2103120"/>
            <a:ext cx="2743200" cy="3566160"/>
          </a:xfrm>
          <a:prstGeom prst="rect">
            <a:avLst/>
          </a:prstGeom>
          <a:noFill/>
          <a:ln/>
        </p:spPr>
        <p:txBody>
          <a:bodyPr wrap="square" lIns="0" tIns="0" rIns="0" bIns="0" rtlCol="0" anchor="t"/>
          <a:lstStyle/>
          <a:p>
            <a:pPr indent="0" marL="0">
              <a:buNone/>
            </a:pPr>
            <a:r>
              <a:rPr lang="en-US" sz="1500" dirty="0">
                <a:solidFill>
                  <a:srgbClr val="CADCFC"/>
                </a:solidFill>
              </a:rPr>
              <a:t>일치한다 → 정합성</a:t>
            </a:r>
            <a:endParaRPr lang="en-US" sz="1500" dirty="0"/>
          </a:p>
          <a:p>
            <a:pPr indent="0" marL="0">
              <a:buNone/>
            </a:pPr>
            <a:r>
              <a:rPr lang="en-US" sz="1500" dirty="0">
                <a:solidFill>
                  <a:srgbClr val="CADCFC"/>
                </a:solidFill>
              </a:rPr>
              <a:t>추적된다 → 추적성</a:t>
            </a:r>
            <a:endParaRPr lang="en-US" sz="1500" dirty="0"/>
          </a:p>
          <a:p>
            <a:pPr indent="0" marL="0">
              <a:buNone/>
            </a:pPr>
            <a:r>
              <a:rPr lang="en-US" sz="1500" dirty="0">
                <a:solidFill>
                  <a:srgbClr val="CADCFC"/>
                </a:solidFill>
              </a:rPr>
              <a:t>기록·증빙된다 → 증빙성</a:t>
            </a:r>
            <a:endParaRPr lang="en-US" sz="1500" dirty="0"/>
          </a:p>
          <a:p>
            <a:pPr indent="0" marL="0">
              <a:buNone/>
            </a:pPr>
            <a:endParaRPr lang="en-US" sz="1500" dirty="0"/>
          </a:p>
          <a:p>
            <a:pPr indent="0" marL="0">
              <a:buNone/>
            </a:pPr>
            <a:r>
              <a:rPr lang="en-US" sz="1500" dirty="0">
                <a:solidFill>
                  <a:srgbClr val="CADCFC"/>
                </a:solidFill>
              </a:rPr>
              <a:t>같은 것을 관계와 품질에서 두 번 재면 이중 계산이 됩니다.</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품질층: 6개 차원</a:t>
            </a:r>
            <a:endParaRPr lang="en-US" sz="3200" dirty="0"/>
          </a:p>
        </p:txBody>
      </p:sp>
      <p:sp>
        <p:nvSpPr>
          <p:cNvPr id="4" name="dim0"/>
          <p:cNvSpPr/>
          <p:nvPr/>
        </p:nvSpPr>
        <p:spPr>
          <a:xfrm>
            <a:off x="548640" y="141732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badge"/>
          <p:cNvSpPr/>
          <p:nvPr/>
        </p:nvSpPr>
        <p:spPr>
          <a:xfrm>
            <a:off x="822960" y="1645920"/>
            <a:ext cx="502920" cy="502920"/>
          </a:xfrm>
          <a:prstGeom prst="ellipse">
            <a:avLst/>
          </a:prstGeom>
          <a:solidFill>
            <a:schemeClr val="accent2"/>
          </a:solidFill>
          <a:ln w="6350">
            <a:solidFill>
              <a:schemeClr val="accent2"/>
            </a:solidFill>
            <a:prstDash val="solid"/>
          </a:ln>
        </p:spPr>
      </p:sp>
      <p:sp>
        <p:nvSpPr>
          <p:cNvPr id="6" name="Text 3"/>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1</a:t>
            </a:r>
            <a:endParaRPr lang="en-US" sz="1700" dirty="0"/>
          </a:p>
        </p:txBody>
      </p:sp>
      <p:sp>
        <p:nvSpPr>
          <p:cNvPr id="7" name="Text 4"/>
          <p:cNvSpPr txBox="1"/>
          <p:nvPr/>
        </p:nvSpPr>
        <p:spPr>
          <a:xfrm>
            <a:off x="1463040" y="164592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정합성</a:t>
            </a:r>
            <a:endParaRPr lang="en-US" sz="2200" dirty="0"/>
          </a:p>
        </p:txBody>
      </p:sp>
      <p:sp>
        <p:nvSpPr>
          <p:cNvPr id="8" name="Text 5"/>
          <p:cNvSpPr txBox="1"/>
          <p:nvPr/>
        </p:nvSpPr>
        <p:spPr>
          <a:xfrm>
            <a:off x="822960" y="2331720"/>
            <a:ext cx="3063240" cy="1188720"/>
          </a:xfrm>
          <a:prstGeom prst="rect">
            <a:avLst/>
          </a:prstGeom>
          <a:noFill/>
          <a:ln/>
        </p:spPr>
        <p:txBody>
          <a:bodyPr wrap="square" lIns="0" tIns="0" rIns="0" bIns="0" rtlCol="0" anchor="t"/>
          <a:lstStyle/>
          <a:p>
            <a:pPr indent="0" marL="0">
              <a:buNone/>
            </a:pPr>
            <a:r>
              <a:rPr lang="en-US" sz="1400" dirty="0">
                <a:solidFill>
                  <a:schemeClr val="tx1"/>
                </a:solidFill>
              </a:rPr>
              <a:t>선행 산출물과 후행 의사결정이 모순 없이 일치하는가?</a:t>
            </a:r>
            <a:endParaRPr lang="en-US" sz="1400" dirty="0"/>
          </a:p>
        </p:txBody>
      </p:sp>
      <p:sp>
        <p:nvSpPr>
          <p:cNvPr id="9" name="dim1"/>
          <p:cNvSpPr/>
          <p:nvPr/>
        </p:nvSpPr>
        <p:spPr>
          <a:xfrm>
            <a:off x="4297680" y="141732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badge"/>
          <p:cNvSpPr/>
          <p:nvPr/>
        </p:nvSpPr>
        <p:spPr>
          <a:xfrm>
            <a:off x="4572000" y="1645920"/>
            <a:ext cx="502920" cy="502920"/>
          </a:xfrm>
          <a:prstGeom prst="ellipse">
            <a:avLst/>
          </a:prstGeom>
          <a:solidFill>
            <a:schemeClr val="accent1"/>
          </a:solidFill>
          <a:ln w="6350">
            <a:solidFill>
              <a:schemeClr val="accent1"/>
            </a:solidFill>
            <a:prstDash val="solid"/>
          </a:ln>
        </p:spPr>
      </p:sp>
      <p:sp>
        <p:nvSpPr>
          <p:cNvPr id="11" name="Text 8"/>
          <p:cNvSpPr txBox="1"/>
          <p:nvPr/>
        </p:nvSpPr>
        <p:spPr>
          <a:xfrm>
            <a:off x="4572000" y="1645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2</a:t>
            </a:r>
            <a:endParaRPr lang="en-US" sz="1700" dirty="0"/>
          </a:p>
        </p:txBody>
      </p:sp>
      <p:sp>
        <p:nvSpPr>
          <p:cNvPr id="12" name="Text 9"/>
          <p:cNvSpPr txBox="1"/>
          <p:nvPr/>
        </p:nvSpPr>
        <p:spPr>
          <a:xfrm>
            <a:off x="5212080" y="164592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추적성</a:t>
            </a:r>
            <a:endParaRPr lang="en-US" sz="2200" dirty="0"/>
          </a:p>
        </p:txBody>
      </p:sp>
      <p:sp>
        <p:nvSpPr>
          <p:cNvPr id="13" name="Text 10"/>
          <p:cNvSpPr txBox="1"/>
          <p:nvPr/>
        </p:nvSpPr>
        <p:spPr>
          <a:xfrm>
            <a:off x="4572000" y="2331720"/>
            <a:ext cx="3063240" cy="1188720"/>
          </a:xfrm>
          <a:prstGeom prst="rect">
            <a:avLst/>
          </a:prstGeom>
          <a:noFill/>
          <a:ln/>
        </p:spPr>
        <p:txBody>
          <a:bodyPr wrap="square" lIns="0" tIns="0" rIns="0" bIns="0" rtlCol="0" anchor="t"/>
          <a:lstStyle/>
          <a:p>
            <a:pPr indent="0" marL="0">
              <a:buNone/>
            </a:pPr>
            <a:r>
              <a:rPr lang="en-US" sz="1400" dirty="0">
                <a:solidFill>
                  <a:schemeClr val="tx1"/>
                </a:solidFill>
              </a:rPr>
              <a:t>후행 결과에서 선행 근거를 역추적할 수 있는가?</a:t>
            </a:r>
            <a:endParaRPr lang="en-US" sz="1400" dirty="0"/>
          </a:p>
        </p:txBody>
      </p:sp>
      <p:sp>
        <p:nvSpPr>
          <p:cNvPr id="14" name="dim2"/>
          <p:cNvSpPr/>
          <p:nvPr/>
        </p:nvSpPr>
        <p:spPr>
          <a:xfrm>
            <a:off x="8046720" y="141732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badge"/>
          <p:cNvSpPr/>
          <p:nvPr/>
        </p:nvSpPr>
        <p:spPr>
          <a:xfrm>
            <a:off x="8321040" y="1645920"/>
            <a:ext cx="502920" cy="502920"/>
          </a:xfrm>
          <a:prstGeom prst="ellipse">
            <a:avLst/>
          </a:prstGeom>
          <a:solidFill>
            <a:schemeClr val="accent3"/>
          </a:solidFill>
          <a:ln w="6350">
            <a:solidFill>
              <a:schemeClr val="accent3"/>
            </a:solidFill>
            <a:prstDash val="solid"/>
          </a:ln>
        </p:spPr>
      </p:sp>
      <p:sp>
        <p:nvSpPr>
          <p:cNvPr id="16" name="Text 13"/>
          <p:cNvSpPr txBox="1"/>
          <p:nvPr/>
        </p:nvSpPr>
        <p:spPr>
          <a:xfrm>
            <a:off x="8321040" y="164592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3</a:t>
            </a:r>
            <a:endParaRPr lang="en-US" sz="1700" dirty="0"/>
          </a:p>
        </p:txBody>
      </p:sp>
      <p:sp>
        <p:nvSpPr>
          <p:cNvPr id="17" name="Text 14"/>
          <p:cNvSpPr txBox="1"/>
          <p:nvPr/>
        </p:nvSpPr>
        <p:spPr>
          <a:xfrm>
            <a:off x="8961120" y="164592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증빙성</a:t>
            </a:r>
            <a:endParaRPr lang="en-US" sz="2200" dirty="0"/>
          </a:p>
        </p:txBody>
      </p:sp>
      <p:sp>
        <p:nvSpPr>
          <p:cNvPr id="18" name="Text 15"/>
          <p:cNvSpPr txBox="1"/>
          <p:nvPr/>
        </p:nvSpPr>
        <p:spPr>
          <a:xfrm>
            <a:off x="8321040" y="2331720"/>
            <a:ext cx="3063240" cy="1188720"/>
          </a:xfrm>
          <a:prstGeom prst="rect">
            <a:avLst/>
          </a:prstGeom>
          <a:noFill/>
          <a:ln/>
        </p:spPr>
        <p:txBody>
          <a:bodyPr wrap="square" lIns="0" tIns="0" rIns="0" bIns="0" rtlCol="0" anchor="t"/>
          <a:lstStyle/>
          <a:p>
            <a:pPr indent="0" marL="0">
              <a:buNone/>
            </a:pPr>
            <a:r>
              <a:rPr lang="en-US" sz="1400" dirty="0">
                <a:solidFill>
                  <a:schemeClr val="tx1"/>
                </a:solidFill>
              </a:rPr>
              <a:t>연결을 입증하는 문서·기록·승인이 존재하는가?</a:t>
            </a:r>
            <a:endParaRPr lang="en-US" sz="1400" dirty="0"/>
          </a:p>
        </p:txBody>
      </p:sp>
      <p:sp>
        <p:nvSpPr>
          <p:cNvPr id="19" name="dim3"/>
          <p:cNvSpPr/>
          <p:nvPr/>
        </p:nvSpPr>
        <p:spPr>
          <a:xfrm>
            <a:off x="548640" y="379476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0" name="badge"/>
          <p:cNvSpPr/>
          <p:nvPr/>
        </p:nvSpPr>
        <p:spPr>
          <a:xfrm>
            <a:off x="822960" y="4023360"/>
            <a:ext cx="502920" cy="502920"/>
          </a:xfrm>
          <a:prstGeom prst="ellipse">
            <a:avLst/>
          </a:prstGeom>
          <a:solidFill>
            <a:schemeClr val="accent4"/>
          </a:solidFill>
          <a:ln w="6350">
            <a:solidFill>
              <a:schemeClr val="accent4"/>
            </a:solidFill>
            <a:prstDash val="solid"/>
          </a:ln>
        </p:spPr>
      </p:sp>
      <p:sp>
        <p:nvSpPr>
          <p:cNvPr id="21" name="Text 18"/>
          <p:cNvSpPr txBox="1"/>
          <p:nvPr/>
        </p:nvSpPr>
        <p:spPr>
          <a:xfrm>
            <a:off x="822960" y="40233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4</a:t>
            </a:r>
            <a:endParaRPr lang="en-US" sz="1700" dirty="0"/>
          </a:p>
        </p:txBody>
      </p:sp>
      <p:sp>
        <p:nvSpPr>
          <p:cNvPr id="22" name="Text 19"/>
          <p:cNvSpPr txBox="1"/>
          <p:nvPr/>
        </p:nvSpPr>
        <p:spPr>
          <a:xfrm>
            <a:off x="1463040" y="402336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책임성</a:t>
            </a:r>
            <a:endParaRPr lang="en-US" sz="2200" dirty="0"/>
          </a:p>
        </p:txBody>
      </p:sp>
      <p:sp>
        <p:nvSpPr>
          <p:cNvPr id="23" name="Text 20"/>
          <p:cNvSpPr txBox="1"/>
          <p:nvPr/>
        </p:nvSpPr>
        <p:spPr>
          <a:xfrm>
            <a:off x="822960" y="4709160"/>
            <a:ext cx="3063240" cy="1188720"/>
          </a:xfrm>
          <a:prstGeom prst="rect">
            <a:avLst/>
          </a:prstGeom>
          <a:noFill/>
          <a:ln/>
        </p:spPr>
        <p:txBody>
          <a:bodyPr wrap="square" lIns="0" tIns="0" rIns="0" bIns="0" rtlCol="0" anchor="t"/>
          <a:lstStyle/>
          <a:p>
            <a:pPr indent="0" marL="0">
              <a:buNone/>
            </a:pPr>
            <a:r>
              <a:rPr lang="en-US" sz="1400" dirty="0">
                <a:solidFill>
                  <a:schemeClr val="tx1"/>
                </a:solidFill>
              </a:rPr>
              <a:t>연결의 검토·승인·변경 책임이 명확한가?</a:t>
            </a:r>
            <a:endParaRPr lang="en-US" sz="1400" dirty="0"/>
          </a:p>
        </p:txBody>
      </p:sp>
      <p:sp>
        <p:nvSpPr>
          <p:cNvPr id="24" name="dim4"/>
          <p:cNvSpPr/>
          <p:nvPr/>
        </p:nvSpPr>
        <p:spPr>
          <a:xfrm>
            <a:off x="4297680" y="379476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5" name="badge"/>
          <p:cNvSpPr/>
          <p:nvPr/>
        </p:nvSpPr>
        <p:spPr>
          <a:xfrm>
            <a:off x="4572000" y="4023360"/>
            <a:ext cx="502920" cy="502920"/>
          </a:xfrm>
          <a:prstGeom prst="ellipse">
            <a:avLst/>
          </a:prstGeom>
          <a:solidFill>
            <a:schemeClr val="accent6"/>
          </a:solidFill>
          <a:ln w="6350">
            <a:solidFill>
              <a:schemeClr val="accent6"/>
            </a:solidFill>
            <a:prstDash val="solid"/>
          </a:ln>
        </p:spPr>
      </p:sp>
      <p:sp>
        <p:nvSpPr>
          <p:cNvPr id="26" name="Text 23"/>
          <p:cNvSpPr txBox="1"/>
          <p:nvPr/>
        </p:nvSpPr>
        <p:spPr>
          <a:xfrm>
            <a:off x="4572000" y="40233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5</a:t>
            </a:r>
            <a:endParaRPr lang="en-US" sz="1700" dirty="0"/>
          </a:p>
        </p:txBody>
      </p:sp>
      <p:sp>
        <p:nvSpPr>
          <p:cNvPr id="27" name="Text 24"/>
          <p:cNvSpPr txBox="1"/>
          <p:nvPr/>
        </p:nvSpPr>
        <p:spPr>
          <a:xfrm>
            <a:off x="5212080" y="402336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최신성</a:t>
            </a:r>
            <a:endParaRPr lang="en-US" sz="2200" dirty="0"/>
          </a:p>
        </p:txBody>
      </p:sp>
      <p:sp>
        <p:nvSpPr>
          <p:cNvPr id="28" name="Text 25"/>
          <p:cNvSpPr txBox="1"/>
          <p:nvPr/>
        </p:nvSpPr>
        <p:spPr>
          <a:xfrm>
            <a:off x="4572000" y="4709160"/>
            <a:ext cx="3063240" cy="1188720"/>
          </a:xfrm>
          <a:prstGeom prst="rect">
            <a:avLst/>
          </a:prstGeom>
          <a:noFill/>
          <a:ln/>
        </p:spPr>
        <p:txBody>
          <a:bodyPr wrap="square" lIns="0" tIns="0" rIns="0" bIns="0" rtlCol="0" anchor="t"/>
          <a:lstStyle/>
          <a:p>
            <a:pPr indent="0" marL="0">
              <a:buNone/>
            </a:pPr>
            <a:r>
              <a:rPr lang="en-US" sz="1400" dirty="0">
                <a:solidFill>
                  <a:schemeClr val="tx1"/>
                </a:solidFill>
              </a:rPr>
              <a:t>변경된 정보가 관련 프로세스와 문서에 적시에 반영되는가?</a:t>
            </a:r>
            <a:endParaRPr lang="en-US" sz="1400" dirty="0"/>
          </a:p>
        </p:txBody>
      </p:sp>
      <p:sp>
        <p:nvSpPr>
          <p:cNvPr id="29" name="dim5"/>
          <p:cNvSpPr/>
          <p:nvPr/>
        </p:nvSpPr>
        <p:spPr>
          <a:xfrm>
            <a:off x="8046720" y="3794760"/>
            <a:ext cx="3593592" cy="2194560"/>
          </a:xfrm>
          <a:prstGeom prst="roundRect">
            <a:avLst>
              <a:gd name="adj" fmla="val 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30" name="badge"/>
          <p:cNvSpPr/>
          <p:nvPr/>
        </p:nvSpPr>
        <p:spPr>
          <a:xfrm>
            <a:off x="8321040" y="4023360"/>
            <a:ext cx="502920" cy="502920"/>
          </a:xfrm>
          <a:prstGeom prst="ellipse">
            <a:avLst/>
          </a:prstGeom>
          <a:solidFill>
            <a:schemeClr val="accent5"/>
          </a:solidFill>
          <a:ln w="6350">
            <a:solidFill>
              <a:schemeClr val="accent5"/>
            </a:solidFill>
            <a:prstDash val="solid"/>
          </a:ln>
        </p:spPr>
      </p:sp>
      <p:sp>
        <p:nvSpPr>
          <p:cNvPr id="31" name="Text 28"/>
          <p:cNvSpPr txBox="1"/>
          <p:nvPr/>
        </p:nvSpPr>
        <p:spPr>
          <a:xfrm>
            <a:off x="8321040" y="4023360"/>
            <a:ext cx="502920" cy="502920"/>
          </a:xfrm>
          <a:prstGeom prst="rect">
            <a:avLst/>
          </a:prstGeom>
          <a:noFill/>
          <a:ln/>
        </p:spPr>
        <p:txBody>
          <a:bodyPr wrap="square" lIns="0" tIns="0" rIns="0" bIns="0" rtlCol="0" anchor="ctr"/>
          <a:lstStyle/>
          <a:p>
            <a:pPr algn="ctr" indent="0" marL="0">
              <a:buNone/>
            </a:pPr>
            <a:r>
              <a:rPr lang="en-US" sz="1700" b="1" dirty="0">
                <a:solidFill>
                  <a:schemeClr val="bg1"/>
                </a:solidFill>
              </a:rPr>
              <a:t>6</a:t>
            </a:r>
            <a:endParaRPr lang="en-US" sz="1700" dirty="0"/>
          </a:p>
        </p:txBody>
      </p:sp>
      <p:sp>
        <p:nvSpPr>
          <p:cNvPr id="32" name="Text 29"/>
          <p:cNvSpPr txBox="1"/>
          <p:nvPr/>
        </p:nvSpPr>
        <p:spPr>
          <a:xfrm>
            <a:off x="8961120" y="4023360"/>
            <a:ext cx="2560320" cy="502920"/>
          </a:xfrm>
          <a:prstGeom prst="rect">
            <a:avLst/>
          </a:prstGeom>
          <a:noFill/>
          <a:ln/>
        </p:spPr>
        <p:txBody>
          <a:bodyPr wrap="square" lIns="0" tIns="0" rIns="0" bIns="0" rtlCol="0" anchor="ctr"/>
          <a:lstStyle/>
          <a:p>
            <a:pPr indent="0" marL="0">
              <a:buNone/>
            </a:pPr>
            <a:r>
              <a:rPr lang="en-US" sz="2200" b="1" dirty="0">
                <a:solidFill>
                  <a:schemeClr val="tx2"/>
                </a:solidFill>
              </a:rPr>
              <a:t>환류폐쇄성</a:t>
            </a:r>
            <a:endParaRPr lang="en-US" sz="2200" dirty="0"/>
          </a:p>
        </p:txBody>
      </p:sp>
      <p:sp>
        <p:nvSpPr>
          <p:cNvPr id="33" name="Text 30"/>
          <p:cNvSpPr txBox="1"/>
          <p:nvPr/>
        </p:nvSpPr>
        <p:spPr>
          <a:xfrm>
            <a:off x="8321040" y="4709160"/>
            <a:ext cx="3063240" cy="1188720"/>
          </a:xfrm>
          <a:prstGeom prst="rect">
            <a:avLst/>
          </a:prstGeom>
          <a:noFill/>
          <a:ln/>
        </p:spPr>
        <p:txBody>
          <a:bodyPr wrap="square" lIns="0" tIns="0" rIns="0" bIns="0" rtlCol="0" anchor="t"/>
          <a:lstStyle/>
          <a:p>
            <a:pPr indent="0" marL="0">
              <a:buNone/>
            </a:pPr>
            <a:r>
              <a:rPr lang="en-US" sz="1400" dirty="0">
                <a:solidFill>
                  <a:schemeClr val="tx1"/>
                </a:solidFill>
              </a:rPr>
              <a:t>훈련·평가·사고 결과가 개선과 재수정까지 완료되는가?</a:t>
            </a:r>
            <a:endParaRPr lang="en-US" sz="1400" dirty="0"/>
          </a:p>
        </p:txBody>
      </p:sp>
      <p:sp>
        <p:nvSpPr>
          <p:cNvPr id="34" name="Text 31"/>
          <p:cNvSpPr txBox="1"/>
          <p:nvPr/>
        </p:nvSpPr>
        <p:spPr>
          <a:xfrm>
            <a:off x="548640" y="6172200"/>
            <a:ext cx="11091672" cy="274320"/>
          </a:xfrm>
          <a:prstGeom prst="rect">
            <a:avLst/>
          </a:prstGeom>
          <a:noFill/>
          <a:ln/>
        </p:spPr>
        <p:txBody>
          <a:bodyPr wrap="square" lIns="0" tIns="0" rIns="0" bIns="0" rtlCol="0" anchor="t"/>
          <a:lstStyle/>
          <a:p>
            <a:pPr indent="0" marL="0">
              <a:buNone/>
            </a:pPr>
            <a:r>
              <a:rPr lang="en-US" sz="1200" dirty="0">
                <a:solidFill>
                  <a:schemeClr val="accent6"/>
                </a:solidFill>
              </a:rPr>
              <a:t>환류폐쇄성은 환류 연결 8개(L16, L18~L20, L23~L26)에만 적용 · 나머지 5개 차원은 31개 연결 모두에 적용</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차원별 학술 근거는 얼마나 있나</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914400"/>
        </p:xfrm>
        <a:graphic>
          <a:graphicData uri="http://schemas.openxmlformats.org/drawingml/2006/table">
            <a:tbl>
              <a:tblPr/>
              <a:tblGrid>
                <a:gridCol w="1645920"/>
                <a:gridCol w="3291840"/>
                <a:gridCol w="6153912"/>
              </a:tblGrid>
              <a:tr h="457200">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차원</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두 논문 안의 근거</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300" b="1" dirty="0">
                          <a:solidFill>
                            <a:srgbClr val="FFFFFF"/>
                          </a:solidFill>
                          <a:latin typeface="맑은 고딕" pitchFamily="34" charset="0"/>
                          <a:ea typeface="맑은 고딕" pitchFamily="34" charset="-122"/>
                          <a:cs typeface="맑은 고딕" pitchFamily="34" charset="-120"/>
                        </a:rPr>
                        <a:t>외부 문헌 후보 (원문 미확인)</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정합성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중  (A33, A14, A16)</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Wang 외 (1996) · Batini 외 (2009) · Zowghi 외 (2003)</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추적성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없음  (직접 서술 없음)</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Gotel 외 (1994) · Cleland-Huang 외 (2014)</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증빙성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중  (B17, A41, A13)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ISO (2018) · ISO (2019)</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책임성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중  (A49, A50, A10)</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Bovens (2007) · ISO (2019)</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최신성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중  (A41, A51, A52)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Wang 외 (1996) · Pipino 외 (2002) · Batini 외 (2009)</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658368">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환류폐쇄성</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강  (A23, A25, A46)</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2E9E6B"/>
                    </a:solidFill>
                  </a:tcPr>
                </a:tc>
                <a:tc>
                  <a:txBody>
                    <a:bodyPr/>
                    <a:lstStyle/>
                    <a:p>
                      <a:pPr indent="0" marL="0">
                        <a:buNone/>
                      </a:pPr>
                      <a:r>
                        <a:rPr lang="en-US" sz="1300" dirty="0">
                          <a:solidFill>
                            <a:srgbClr val="000000"/>
                          </a:solidFill>
                          <a:latin typeface="맑은 고딕" pitchFamily="34" charset="0"/>
                          <a:ea typeface="맑은 고딕" pitchFamily="34" charset="-122"/>
                          <a:cs typeface="맑은 고딕" pitchFamily="34" charset="-120"/>
                        </a:rPr>
                        <a:t>Argyris (1977)</a:t>
                      </a:r>
                      <a:endParaRPr lang="en-US" sz="13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5" name="Text 1"/>
          <p:cNvSpPr txBox="1"/>
          <p:nvPr/>
        </p:nvSpPr>
        <p:spPr>
          <a:xfrm>
            <a:off x="548640" y="5897880"/>
            <a:ext cx="11091672" cy="320040"/>
          </a:xfrm>
          <a:prstGeom prst="rect">
            <a:avLst/>
          </a:prstGeom>
          <a:noFill/>
          <a:ln/>
        </p:spPr>
        <p:txBody>
          <a:bodyPr wrap="square" lIns="0" tIns="0" rIns="0" bIns="0" rtlCol="0" anchor="t"/>
          <a:lstStyle/>
          <a:p>
            <a:pPr indent="0" marL="0">
              <a:buNone/>
            </a:pPr>
            <a:r>
              <a:rPr lang="en-US" sz="1300" dirty="0">
                <a:solidFill>
                  <a:schemeClr val="accent6"/>
                </a:solidFill>
              </a:rPr>
              <a:t>강 = 논문이 직접 서술 · 중 = 간접 서술(핵심 개념은 있으나 말이 다름) · 없음 = 서술 없음</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인용과 의견을 구분했습니다</a:t>
            </a:r>
            <a:endParaRPr lang="en-US" sz="3200" dirty="0"/>
          </a:p>
        </p:txBody>
      </p:sp>
      <p:sp>
        <p:nvSpPr>
          <p:cNvPr id="4" name="ev0"/>
          <p:cNvSpPr/>
          <p:nvPr/>
        </p:nvSpPr>
        <p:spPr>
          <a:xfrm>
            <a:off x="54864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68680" y="1645920"/>
            <a:ext cx="2926080" cy="1097280"/>
          </a:xfrm>
          <a:prstGeom prst="rect">
            <a:avLst/>
          </a:prstGeom>
          <a:noFill/>
          <a:ln/>
        </p:spPr>
        <p:txBody>
          <a:bodyPr wrap="square" lIns="0" tIns="0" rIns="0" bIns="0" rtlCol="0" anchor="ctr"/>
          <a:lstStyle/>
          <a:p>
            <a:pPr indent="0" marL="0">
              <a:buNone/>
            </a:pPr>
            <a:r>
              <a:rPr lang="en-US" sz="6600" b="1" dirty="0">
                <a:solidFill>
                  <a:schemeClr val="accent3"/>
                </a:solidFill>
              </a:rPr>
              <a:t>26</a:t>
            </a:r>
            <a:endParaRPr lang="en-US" sz="6600" dirty="0"/>
          </a:p>
        </p:txBody>
      </p:sp>
      <p:sp>
        <p:nvSpPr>
          <p:cNvPr id="6" name="Text 3"/>
          <p:cNvSpPr txBox="1"/>
          <p:nvPr/>
        </p:nvSpPr>
        <p:spPr>
          <a:xfrm>
            <a:off x="86868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E1 직접</a:t>
            </a:r>
            <a:endParaRPr lang="en-US" sz="2000" dirty="0"/>
          </a:p>
        </p:txBody>
      </p:sp>
      <p:sp>
        <p:nvSpPr>
          <p:cNvPr id="7" name="Text 4"/>
          <p:cNvSpPr txBox="1"/>
          <p:nvPr/>
        </p:nvSpPr>
        <p:spPr>
          <a:xfrm>
            <a:off x="86868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논문이 연결을 직접 서술</a:t>
            </a:r>
            <a:endParaRPr lang="en-US" sz="1500" dirty="0"/>
          </a:p>
        </p:txBody>
      </p:sp>
      <p:sp>
        <p:nvSpPr>
          <p:cNvPr id="8" name="ev1"/>
          <p:cNvSpPr/>
          <p:nvPr/>
        </p:nvSpPr>
        <p:spPr>
          <a:xfrm>
            <a:off x="429768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617720" y="1645920"/>
            <a:ext cx="2926080" cy="1097280"/>
          </a:xfrm>
          <a:prstGeom prst="rect">
            <a:avLst/>
          </a:prstGeom>
          <a:noFill/>
          <a:ln/>
        </p:spPr>
        <p:txBody>
          <a:bodyPr wrap="square" lIns="0" tIns="0" rIns="0" bIns="0" rtlCol="0" anchor="ctr"/>
          <a:lstStyle/>
          <a:p>
            <a:pPr indent="0" marL="0">
              <a:buNone/>
            </a:pPr>
            <a:r>
              <a:rPr lang="en-US" sz="6600" b="1" dirty="0">
                <a:solidFill>
                  <a:schemeClr val="accent4"/>
                </a:solidFill>
              </a:rPr>
              <a:t>2</a:t>
            </a:r>
            <a:endParaRPr lang="en-US" sz="6600" dirty="0"/>
          </a:p>
        </p:txBody>
      </p:sp>
      <p:sp>
        <p:nvSpPr>
          <p:cNvPr id="10" name="Text 7"/>
          <p:cNvSpPr txBox="1"/>
          <p:nvPr/>
        </p:nvSpPr>
        <p:spPr>
          <a:xfrm>
            <a:off x="461772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E2 일부 보완</a:t>
            </a:r>
            <a:endParaRPr lang="en-US" sz="2000" dirty="0"/>
          </a:p>
        </p:txBody>
      </p:sp>
      <p:sp>
        <p:nvSpPr>
          <p:cNvPr id="11" name="Text 8"/>
          <p:cNvSpPr txBox="1"/>
          <p:nvPr/>
        </p:nvSpPr>
        <p:spPr>
          <a:xfrm>
            <a:off x="461772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출발·도착 일부를 연구자가 특정</a:t>
            </a:r>
            <a:endParaRPr lang="en-US" sz="1500" dirty="0"/>
          </a:p>
        </p:txBody>
      </p:sp>
      <p:sp>
        <p:nvSpPr>
          <p:cNvPr id="12" name="ev2"/>
          <p:cNvSpPr/>
          <p:nvPr/>
        </p:nvSpPr>
        <p:spPr>
          <a:xfrm>
            <a:off x="8046720" y="1463040"/>
            <a:ext cx="3593592" cy="2651760"/>
          </a:xfrm>
          <a:prstGeom prst="roundRect">
            <a:avLst>
              <a:gd name="adj" fmla="val 4138"/>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8366760" y="1645920"/>
            <a:ext cx="2926080" cy="1097280"/>
          </a:xfrm>
          <a:prstGeom prst="rect">
            <a:avLst/>
          </a:prstGeom>
          <a:noFill/>
          <a:ln/>
        </p:spPr>
        <p:txBody>
          <a:bodyPr wrap="square" lIns="0" tIns="0" rIns="0" bIns="0" rtlCol="0" anchor="ctr"/>
          <a:lstStyle/>
          <a:p>
            <a:pPr indent="0" marL="0">
              <a:buNone/>
            </a:pPr>
            <a:r>
              <a:rPr lang="en-US" sz="6600" b="1" dirty="0">
                <a:solidFill>
                  <a:schemeClr val="accent5"/>
                </a:solidFill>
              </a:rPr>
              <a:t>3</a:t>
            </a:r>
            <a:endParaRPr lang="en-US" sz="6600" dirty="0"/>
          </a:p>
        </p:txBody>
      </p:sp>
      <p:sp>
        <p:nvSpPr>
          <p:cNvPr id="14" name="Text 11"/>
          <p:cNvSpPr txBox="1"/>
          <p:nvPr/>
        </p:nvSpPr>
        <p:spPr>
          <a:xfrm>
            <a:off x="8366760" y="2788920"/>
            <a:ext cx="3017520" cy="457200"/>
          </a:xfrm>
          <a:prstGeom prst="rect">
            <a:avLst/>
          </a:prstGeom>
          <a:noFill/>
          <a:ln/>
        </p:spPr>
        <p:txBody>
          <a:bodyPr wrap="square" lIns="0" tIns="0" rIns="0" bIns="0" rtlCol="0" anchor="t"/>
          <a:lstStyle/>
          <a:p>
            <a:pPr indent="0" marL="0">
              <a:buNone/>
            </a:pPr>
            <a:r>
              <a:rPr lang="en-US" sz="2000" b="1" dirty="0">
                <a:solidFill>
                  <a:schemeClr val="tx2"/>
                </a:solidFill>
              </a:rPr>
              <a:t>E3 가정</a:t>
            </a:r>
            <a:endParaRPr lang="en-US" sz="2000" dirty="0"/>
          </a:p>
        </p:txBody>
      </p:sp>
      <p:sp>
        <p:nvSpPr>
          <p:cNvPr id="15" name="Text 12"/>
          <p:cNvSpPr txBox="1"/>
          <p:nvPr/>
        </p:nvSpPr>
        <p:spPr>
          <a:xfrm>
            <a:off x="8366760" y="3291840"/>
            <a:ext cx="3017520" cy="640080"/>
          </a:xfrm>
          <a:prstGeom prst="rect">
            <a:avLst/>
          </a:prstGeom>
          <a:noFill/>
          <a:ln/>
        </p:spPr>
        <p:txBody>
          <a:bodyPr wrap="square" lIns="0" tIns="0" rIns="0" bIns="0" rtlCol="0" anchor="t"/>
          <a:lstStyle/>
          <a:p>
            <a:pPr indent="0" marL="0">
              <a:buNone/>
            </a:pPr>
            <a:r>
              <a:rPr lang="en-US" sz="1500" dirty="0">
                <a:solidFill>
                  <a:schemeClr val="tx1"/>
                </a:solidFill>
              </a:rPr>
              <a:t>논문에 없음, 연구자 가정</a:t>
            </a:r>
            <a:endParaRPr lang="en-US" sz="1500" dirty="0"/>
          </a:p>
        </p:txBody>
      </p:sp>
      <p:sp>
        <p:nvSpPr>
          <p:cNvPr id="16" name="rule"/>
          <p:cNvSpPr/>
          <p:nvPr/>
        </p:nvSpPr>
        <p:spPr>
          <a:xfrm>
            <a:off x="548640" y="4389120"/>
            <a:ext cx="11091672" cy="1691640"/>
          </a:xfrm>
          <a:prstGeom prst="roundRect">
            <a:avLst>
              <a:gd name="adj" fmla="val 6486"/>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7" name="legendQ"/>
          <p:cNvSpPr/>
          <p:nvPr/>
        </p:nvSpPr>
        <p:spPr>
          <a:xfrm>
            <a:off x="868680" y="4709160"/>
            <a:ext cx="411480" cy="411480"/>
          </a:xfrm>
          <a:prstGeom prst="rect">
            <a:avLst/>
          </a:prstGeom>
          <a:solidFill>
            <a:schemeClr val="accent2">
              <a:alpha val="30000"/>
            </a:schemeClr>
          </a:solidFill>
          <a:ln w="12700">
            <a:solidFill>
              <a:schemeClr val="accent2"/>
            </a:solidFill>
            <a:prstDash val="solid"/>
          </a:ln>
        </p:spPr>
      </p:sp>
      <p:sp>
        <p:nvSpPr>
          <p:cNvPr id="18" name="Text 15"/>
          <p:cNvSpPr txBox="1"/>
          <p:nvPr/>
        </p:nvSpPr>
        <p:spPr>
          <a:xfrm>
            <a:off x="1463040" y="4709160"/>
            <a:ext cx="9875520" cy="411480"/>
          </a:xfrm>
          <a:prstGeom prst="rect">
            <a:avLst/>
          </a:prstGeom>
          <a:noFill/>
          <a:ln/>
        </p:spPr>
        <p:txBody>
          <a:bodyPr wrap="square" lIns="0" tIns="0" rIns="0" bIns="0" rtlCol="0" anchor="ctr"/>
          <a:lstStyle/>
          <a:p>
            <a:pPr indent="0" marL="0">
              <a:buNone/>
            </a:pPr>
            <a:r>
              <a:rPr lang="en-US" sz="1600" dirty="0">
                <a:solidFill>
                  <a:schemeClr val="tx1"/>
                </a:solidFill>
              </a:rPr>
              <a:t>파란 열 = 논문 인용 (Arias·Białas 인용 72개 중 72개 원문 일치)</a:t>
            </a:r>
            <a:endParaRPr lang="en-US" sz="1600" dirty="0"/>
          </a:p>
        </p:txBody>
      </p:sp>
      <p:sp>
        <p:nvSpPr>
          <p:cNvPr id="19" name="legendO"/>
          <p:cNvSpPr/>
          <p:nvPr/>
        </p:nvSpPr>
        <p:spPr>
          <a:xfrm>
            <a:off x="868680" y="5349240"/>
            <a:ext cx="411480" cy="411480"/>
          </a:xfrm>
          <a:prstGeom prst="rect">
            <a:avLst/>
          </a:prstGeom>
          <a:solidFill>
            <a:schemeClr val="accent5">
              <a:alpha val="30000"/>
            </a:schemeClr>
          </a:solidFill>
          <a:ln w="12700">
            <a:solidFill>
              <a:schemeClr val="accent5"/>
            </a:solidFill>
            <a:prstDash val="solid"/>
          </a:ln>
        </p:spPr>
      </p:sp>
      <p:sp>
        <p:nvSpPr>
          <p:cNvPr id="20" name="Text 17"/>
          <p:cNvSpPr txBox="1"/>
          <p:nvPr/>
        </p:nvSpPr>
        <p:spPr>
          <a:xfrm>
            <a:off x="1463040" y="5349240"/>
            <a:ext cx="9875520" cy="411480"/>
          </a:xfrm>
          <a:prstGeom prst="rect">
            <a:avLst/>
          </a:prstGeom>
          <a:noFill/>
          <a:ln/>
        </p:spPr>
        <p:txBody>
          <a:bodyPr wrap="square" lIns="0" tIns="0" rIns="0" bIns="0" rtlCol="0" anchor="ctr"/>
          <a:lstStyle/>
          <a:p>
            <a:pPr indent="0" marL="0">
              <a:buNone/>
            </a:pPr>
            <a:r>
              <a:rPr lang="en-US" sz="1600" dirty="0">
                <a:solidFill>
                  <a:schemeClr val="tx1"/>
                </a:solidFill>
              </a:rPr>
              <a:t>빨간 열 = 연구자 의견 · 외부 문헌은 서지만 확인(원문 대조 0건)</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3단계: 객체쌍 + 관계동사 + 품질조건</a:t>
            </a:r>
            <a:endParaRPr lang="en-US" sz="3200" dirty="0"/>
          </a:p>
        </p:txBody>
      </p:sp>
      <p:sp>
        <p:nvSpPr>
          <p:cNvPr id="4" name="it0"/>
          <p:cNvSpPr/>
          <p:nvPr/>
        </p:nvSpPr>
        <p:spPr>
          <a:xfrm>
            <a:off x="548640" y="1371600"/>
            <a:ext cx="11091672" cy="804672"/>
          </a:xfrm>
          <a:prstGeom prst="roundRect">
            <a:avLst>
              <a:gd name="adj" fmla="val 13636"/>
            </a:avLst>
          </a:prstGeom>
          <a:solidFill>
            <a:schemeClr val="bg2"/>
          </a:solidFill>
          <a:ln w="9525">
            <a:solidFill>
              <a:srgbClr val="E1E6EE"/>
            </a:solidFill>
            <a:prstDash val="solid"/>
          </a:ln>
        </p:spPr>
      </p:sp>
      <p:sp>
        <p:nvSpPr>
          <p:cNvPr id="5" name="chip"/>
          <p:cNvSpPr/>
          <p:nvPr/>
        </p:nvSpPr>
        <p:spPr>
          <a:xfrm>
            <a:off x="777240" y="1618488"/>
            <a:ext cx="1188720" cy="310896"/>
          </a:xfrm>
          <a:prstGeom prst="roundRect">
            <a:avLst>
              <a:gd name="adj" fmla="val 50000"/>
            </a:avLst>
          </a:prstGeom>
          <a:solidFill>
            <a:schemeClr val="accent2"/>
          </a:solidFill>
          <a:ln w="6350">
            <a:solidFill>
              <a:schemeClr val="accent2"/>
            </a:solidFill>
            <a:prstDash val="solid"/>
          </a:ln>
        </p:spPr>
      </p:sp>
      <p:sp>
        <p:nvSpPr>
          <p:cNvPr id="6" name="Text 3"/>
          <p:cNvSpPr txBox="1"/>
          <p:nvPr/>
        </p:nvSpPr>
        <p:spPr>
          <a:xfrm>
            <a:off x="777240" y="1618488"/>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정합성</a:t>
            </a:r>
            <a:endParaRPr lang="en-US" sz="1200" dirty="0"/>
          </a:p>
        </p:txBody>
      </p:sp>
      <p:sp>
        <p:nvSpPr>
          <p:cNvPr id="7" name="Text 4"/>
          <p:cNvSpPr txBox="1"/>
          <p:nvPr/>
        </p:nvSpPr>
        <p:spPr>
          <a:xfrm>
            <a:off x="2194560" y="1408176"/>
            <a:ext cx="9171432" cy="731520"/>
          </a:xfrm>
          <a:prstGeom prst="rect">
            <a:avLst/>
          </a:prstGeom>
          <a:noFill/>
          <a:ln/>
        </p:spPr>
        <p:txBody>
          <a:bodyPr wrap="square" lIns="0" tIns="0" rIns="0" bIns="0" rtlCol="0" anchor="ctr"/>
          <a:lstStyle/>
          <a:p>
            <a:pPr indent="0" marL="0">
              <a:buNone/>
            </a:pPr>
            <a:r>
              <a:rPr lang="en-US" sz="1300" dirty="0">
                <a:solidFill>
                  <a:schemeClr val="tx1"/>
                </a:solidFill>
              </a:rPr>
              <a:t>우리 조직에서는 요구사항 목록이 BIA의 우선순위·복구목표 설정에 입력될 때, 두 내용이 서로 모순 없이 일치한다.</a:t>
            </a:r>
            <a:endParaRPr lang="en-US" sz="1300" dirty="0"/>
          </a:p>
        </p:txBody>
      </p:sp>
      <p:sp>
        <p:nvSpPr>
          <p:cNvPr id="8" name="it1"/>
          <p:cNvSpPr/>
          <p:nvPr/>
        </p:nvSpPr>
        <p:spPr>
          <a:xfrm>
            <a:off x="548640" y="2267712"/>
            <a:ext cx="11091672" cy="804672"/>
          </a:xfrm>
          <a:prstGeom prst="roundRect">
            <a:avLst>
              <a:gd name="adj" fmla="val 13636"/>
            </a:avLst>
          </a:prstGeom>
          <a:solidFill>
            <a:schemeClr val="bg2"/>
          </a:solidFill>
          <a:ln w="9525">
            <a:solidFill>
              <a:srgbClr val="E1E6EE"/>
            </a:solidFill>
            <a:prstDash val="solid"/>
          </a:ln>
        </p:spPr>
      </p:sp>
      <p:sp>
        <p:nvSpPr>
          <p:cNvPr id="9" name="chip"/>
          <p:cNvSpPr/>
          <p:nvPr/>
        </p:nvSpPr>
        <p:spPr>
          <a:xfrm>
            <a:off x="777240" y="2514600"/>
            <a:ext cx="1188720" cy="310896"/>
          </a:xfrm>
          <a:prstGeom prst="roundRect">
            <a:avLst>
              <a:gd name="adj" fmla="val 50000"/>
            </a:avLst>
          </a:prstGeom>
          <a:solidFill>
            <a:schemeClr val="accent1"/>
          </a:solidFill>
          <a:ln w="6350">
            <a:solidFill>
              <a:schemeClr val="accent1"/>
            </a:solidFill>
            <a:prstDash val="solid"/>
          </a:ln>
        </p:spPr>
      </p:sp>
      <p:sp>
        <p:nvSpPr>
          <p:cNvPr id="10" name="Text 7"/>
          <p:cNvSpPr txBox="1"/>
          <p:nvPr/>
        </p:nvSpPr>
        <p:spPr>
          <a:xfrm>
            <a:off x="777240" y="251460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추적성</a:t>
            </a:r>
            <a:endParaRPr lang="en-US" sz="1200" dirty="0"/>
          </a:p>
        </p:txBody>
      </p:sp>
      <p:sp>
        <p:nvSpPr>
          <p:cNvPr id="11" name="Text 8"/>
          <p:cNvSpPr txBox="1"/>
          <p:nvPr/>
        </p:nvSpPr>
        <p:spPr>
          <a:xfrm>
            <a:off x="2194560" y="2304288"/>
            <a:ext cx="9171432" cy="731520"/>
          </a:xfrm>
          <a:prstGeom prst="rect">
            <a:avLst/>
          </a:prstGeom>
          <a:noFill/>
          <a:ln/>
        </p:spPr>
        <p:txBody>
          <a:bodyPr wrap="square" lIns="0" tIns="0" rIns="0" bIns="0" rtlCol="0" anchor="ctr"/>
          <a:lstStyle/>
          <a:p>
            <a:pPr indent="0" marL="0">
              <a:buNone/>
            </a:pPr>
            <a:r>
              <a:rPr lang="en-US" sz="1300" dirty="0">
                <a:solidFill>
                  <a:schemeClr val="tx1"/>
                </a:solidFill>
              </a:rPr>
              <a:t>우리 조직에서는 BIA의 우선순위·복구목표 설정에서 근거가 된 요구사항 목록을 거슬러 찾아 확인할 수 있다.</a:t>
            </a:r>
            <a:endParaRPr lang="en-US" sz="1300" dirty="0"/>
          </a:p>
        </p:txBody>
      </p:sp>
      <p:sp>
        <p:nvSpPr>
          <p:cNvPr id="12" name="it2"/>
          <p:cNvSpPr/>
          <p:nvPr/>
        </p:nvSpPr>
        <p:spPr>
          <a:xfrm>
            <a:off x="548640" y="3163824"/>
            <a:ext cx="11091672" cy="804672"/>
          </a:xfrm>
          <a:prstGeom prst="roundRect">
            <a:avLst>
              <a:gd name="adj" fmla="val 13636"/>
            </a:avLst>
          </a:prstGeom>
          <a:solidFill>
            <a:schemeClr val="bg2"/>
          </a:solidFill>
          <a:ln w="9525">
            <a:solidFill>
              <a:srgbClr val="E1E6EE"/>
            </a:solidFill>
            <a:prstDash val="solid"/>
          </a:ln>
        </p:spPr>
      </p:sp>
      <p:sp>
        <p:nvSpPr>
          <p:cNvPr id="13" name="chip"/>
          <p:cNvSpPr/>
          <p:nvPr/>
        </p:nvSpPr>
        <p:spPr>
          <a:xfrm>
            <a:off x="777240" y="3410712"/>
            <a:ext cx="1188720" cy="310896"/>
          </a:xfrm>
          <a:prstGeom prst="roundRect">
            <a:avLst>
              <a:gd name="adj" fmla="val 50000"/>
            </a:avLst>
          </a:prstGeom>
          <a:solidFill>
            <a:schemeClr val="accent3"/>
          </a:solidFill>
          <a:ln w="6350">
            <a:solidFill>
              <a:schemeClr val="accent3"/>
            </a:solidFill>
            <a:prstDash val="solid"/>
          </a:ln>
        </p:spPr>
      </p:sp>
      <p:sp>
        <p:nvSpPr>
          <p:cNvPr id="14" name="Text 11"/>
          <p:cNvSpPr txBox="1"/>
          <p:nvPr/>
        </p:nvSpPr>
        <p:spPr>
          <a:xfrm>
            <a:off x="777240" y="3410712"/>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증빙성</a:t>
            </a:r>
            <a:endParaRPr lang="en-US" sz="1200" dirty="0"/>
          </a:p>
        </p:txBody>
      </p:sp>
      <p:sp>
        <p:nvSpPr>
          <p:cNvPr id="15" name="Text 12"/>
          <p:cNvSpPr txBox="1"/>
          <p:nvPr/>
        </p:nvSpPr>
        <p:spPr>
          <a:xfrm>
            <a:off x="2194560" y="3200400"/>
            <a:ext cx="9171432" cy="731520"/>
          </a:xfrm>
          <a:prstGeom prst="rect">
            <a:avLst/>
          </a:prstGeom>
          <a:noFill/>
          <a:ln/>
        </p:spPr>
        <p:txBody>
          <a:bodyPr wrap="square" lIns="0" tIns="0" rIns="0" bIns="0" rtlCol="0" anchor="ctr"/>
          <a:lstStyle/>
          <a:p>
            <a:pPr indent="0" marL="0">
              <a:buNone/>
            </a:pPr>
            <a:r>
              <a:rPr lang="en-US" sz="1300" dirty="0">
                <a:solidFill>
                  <a:schemeClr val="tx1"/>
                </a:solidFill>
              </a:rPr>
              <a:t>우리 조직에서는 요구사항 목록이 BIA의 우선순위·복구목표 설정에 입력될 때, 그 사실을 입증하는 문서·기록·승인(검토 기록, 회의록, 버전 이력 등)이 남아 있다.</a:t>
            </a:r>
            <a:endParaRPr lang="en-US" sz="1300" dirty="0"/>
          </a:p>
        </p:txBody>
      </p:sp>
      <p:sp>
        <p:nvSpPr>
          <p:cNvPr id="16" name="it3"/>
          <p:cNvSpPr/>
          <p:nvPr/>
        </p:nvSpPr>
        <p:spPr>
          <a:xfrm>
            <a:off x="548640" y="4059936"/>
            <a:ext cx="11091672" cy="804672"/>
          </a:xfrm>
          <a:prstGeom prst="roundRect">
            <a:avLst>
              <a:gd name="adj" fmla="val 13636"/>
            </a:avLst>
          </a:prstGeom>
          <a:solidFill>
            <a:schemeClr val="bg2"/>
          </a:solidFill>
          <a:ln w="9525">
            <a:solidFill>
              <a:srgbClr val="E1E6EE"/>
            </a:solidFill>
            <a:prstDash val="solid"/>
          </a:ln>
        </p:spPr>
      </p:sp>
      <p:sp>
        <p:nvSpPr>
          <p:cNvPr id="17" name="chip"/>
          <p:cNvSpPr/>
          <p:nvPr/>
        </p:nvSpPr>
        <p:spPr>
          <a:xfrm>
            <a:off x="777240" y="4306824"/>
            <a:ext cx="1188720" cy="310896"/>
          </a:xfrm>
          <a:prstGeom prst="roundRect">
            <a:avLst>
              <a:gd name="adj" fmla="val 50000"/>
            </a:avLst>
          </a:prstGeom>
          <a:solidFill>
            <a:schemeClr val="accent4"/>
          </a:solidFill>
          <a:ln w="6350">
            <a:solidFill>
              <a:schemeClr val="accent4"/>
            </a:solidFill>
            <a:prstDash val="solid"/>
          </a:ln>
        </p:spPr>
      </p:sp>
      <p:sp>
        <p:nvSpPr>
          <p:cNvPr id="18" name="Text 15"/>
          <p:cNvSpPr txBox="1"/>
          <p:nvPr/>
        </p:nvSpPr>
        <p:spPr>
          <a:xfrm>
            <a:off x="777240" y="4306824"/>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책임성</a:t>
            </a:r>
            <a:endParaRPr lang="en-US" sz="1200" dirty="0"/>
          </a:p>
        </p:txBody>
      </p:sp>
      <p:sp>
        <p:nvSpPr>
          <p:cNvPr id="19" name="Text 16"/>
          <p:cNvSpPr txBox="1"/>
          <p:nvPr/>
        </p:nvSpPr>
        <p:spPr>
          <a:xfrm>
            <a:off x="2194560" y="4096512"/>
            <a:ext cx="9171432" cy="731520"/>
          </a:xfrm>
          <a:prstGeom prst="rect">
            <a:avLst/>
          </a:prstGeom>
          <a:noFill/>
          <a:ln/>
        </p:spPr>
        <p:txBody>
          <a:bodyPr wrap="square" lIns="0" tIns="0" rIns="0" bIns="0" rtlCol="0" anchor="ctr"/>
          <a:lstStyle/>
          <a:p>
            <a:pPr indent="0" marL="0">
              <a:buNone/>
            </a:pPr>
            <a:r>
              <a:rPr lang="en-US" sz="1300" dirty="0">
                <a:solidFill>
                  <a:schemeClr val="tx1"/>
                </a:solidFill>
              </a:rPr>
              <a:t>우리 조직에서는 요구사항 목록이 BIA의 우선순위·복구목표 설정에 입력될 때, 그 연결의 검토·승인·변경에 대한 책임자(또는 부서)가 정해져 있다.</a:t>
            </a:r>
            <a:endParaRPr lang="en-US" sz="1300" dirty="0"/>
          </a:p>
        </p:txBody>
      </p:sp>
      <p:sp>
        <p:nvSpPr>
          <p:cNvPr id="20" name="it4"/>
          <p:cNvSpPr/>
          <p:nvPr/>
        </p:nvSpPr>
        <p:spPr>
          <a:xfrm>
            <a:off x="548640" y="4956048"/>
            <a:ext cx="11091672" cy="804672"/>
          </a:xfrm>
          <a:prstGeom prst="roundRect">
            <a:avLst>
              <a:gd name="adj" fmla="val 13636"/>
            </a:avLst>
          </a:prstGeom>
          <a:solidFill>
            <a:schemeClr val="bg2"/>
          </a:solidFill>
          <a:ln w="9525">
            <a:solidFill>
              <a:srgbClr val="E1E6EE"/>
            </a:solidFill>
            <a:prstDash val="solid"/>
          </a:ln>
        </p:spPr>
      </p:sp>
      <p:sp>
        <p:nvSpPr>
          <p:cNvPr id="21" name="chip"/>
          <p:cNvSpPr/>
          <p:nvPr/>
        </p:nvSpPr>
        <p:spPr>
          <a:xfrm>
            <a:off x="777240" y="5202936"/>
            <a:ext cx="1188720" cy="310896"/>
          </a:xfrm>
          <a:prstGeom prst="roundRect">
            <a:avLst>
              <a:gd name="adj" fmla="val 50000"/>
            </a:avLst>
          </a:prstGeom>
          <a:solidFill>
            <a:schemeClr val="accent6"/>
          </a:solidFill>
          <a:ln w="6350">
            <a:solidFill>
              <a:schemeClr val="accent6"/>
            </a:solidFill>
            <a:prstDash val="solid"/>
          </a:ln>
        </p:spPr>
      </p:sp>
      <p:sp>
        <p:nvSpPr>
          <p:cNvPr id="22" name="Text 19"/>
          <p:cNvSpPr txBox="1"/>
          <p:nvPr/>
        </p:nvSpPr>
        <p:spPr>
          <a:xfrm>
            <a:off x="777240" y="5202936"/>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최신성</a:t>
            </a:r>
            <a:endParaRPr lang="en-US" sz="1200" dirty="0"/>
          </a:p>
        </p:txBody>
      </p:sp>
      <p:sp>
        <p:nvSpPr>
          <p:cNvPr id="23" name="Text 20"/>
          <p:cNvSpPr txBox="1"/>
          <p:nvPr/>
        </p:nvSpPr>
        <p:spPr>
          <a:xfrm>
            <a:off x="2194560" y="4992624"/>
            <a:ext cx="9171432" cy="731520"/>
          </a:xfrm>
          <a:prstGeom prst="rect">
            <a:avLst/>
          </a:prstGeom>
          <a:noFill/>
          <a:ln/>
        </p:spPr>
        <p:txBody>
          <a:bodyPr wrap="square" lIns="0" tIns="0" rIns="0" bIns="0" rtlCol="0" anchor="ctr"/>
          <a:lstStyle/>
          <a:p>
            <a:pPr indent="0" marL="0">
              <a:buNone/>
            </a:pPr>
            <a:r>
              <a:rPr lang="en-US" sz="1300" dirty="0">
                <a:solidFill>
                  <a:schemeClr val="tx1"/>
                </a:solidFill>
              </a:rPr>
              <a:t>우리 조직에서는 요구사항 목록이 바뀌면, BIA의 우선순위·복구목표 설정에 정해진 기간 안에 반영된다.</a:t>
            </a:r>
            <a:endParaRPr lang="en-US" sz="1300" dirty="0"/>
          </a:p>
        </p:txBody>
      </p:sp>
      <p:sp>
        <p:nvSpPr>
          <p:cNvPr id="24" name="Text 21"/>
          <p:cNvSpPr txBox="1"/>
          <p:nvPr/>
        </p:nvSpPr>
        <p:spPr>
          <a:xfrm>
            <a:off x="548640" y="5897880"/>
            <a:ext cx="11091672" cy="365760"/>
          </a:xfrm>
          <a:prstGeom prst="rect">
            <a:avLst/>
          </a:prstGeom>
          <a:noFill/>
          <a:ln/>
        </p:spPr>
        <p:txBody>
          <a:bodyPr wrap="square" lIns="0" tIns="0" rIns="0" bIns="0" rtlCol="0" anchor="t"/>
          <a:lstStyle/>
          <a:p>
            <a:pPr indent="0" marL="0">
              <a:buNone/>
            </a:pPr>
            <a:r>
              <a:rPr lang="en-US" sz="1300" dirty="0">
                <a:solidFill>
                  <a:schemeClr val="accent6"/>
                </a:solidFill>
              </a:rPr>
              <a:t>객체쌍: 요구사항관리 → BIA · 관계동사: 입력된다 · 품질조건: 차원마다 다름 · 환류폐쇄성은 환류 연결에만 적용되어 이 연결은 5개</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연결 하나를 끝까지 보면</a:t>
            </a:r>
            <a:endParaRPr lang="en-US" sz="3200" dirty="0"/>
          </a:p>
        </p:txBody>
      </p:sp>
      <p:sp>
        <p:nvSpPr>
          <p:cNvPr id="4" name="anat0"/>
          <p:cNvSpPr/>
          <p:nvPr/>
        </p:nvSpPr>
        <p:spPr>
          <a:xfrm>
            <a:off x="548640" y="1371600"/>
            <a:ext cx="11091672" cy="1188720"/>
          </a:xfrm>
          <a:prstGeom prst="roundRect">
            <a:avLst>
              <a:gd name="adj" fmla="val 9231"/>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22960" y="1463040"/>
            <a:ext cx="2743200" cy="1005840"/>
          </a:xfrm>
          <a:prstGeom prst="rect">
            <a:avLst/>
          </a:prstGeom>
          <a:noFill/>
          <a:ln/>
        </p:spPr>
        <p:txBody>
          <a:bodyPr wrap="square" lIns="0" tIns="0" rIns="0" bIns="0" rtlCol="0" anchor="ctr"/>
          <a:lstStyle/>
          <a:p>
            <a:pPr indent="0" marL="0">
              <a:buNone/>
            </a:pPr>
            <a:r>
              <a:rPr lang="en-US" sz="1500" b="1" dirty="0">
                <a:solidFill>
                  <a:schemeClr val="accent2"/>
                </a:solidFill>
              </a:rPr>
              <a:t>① 인용 (Arias p.15)</a:t>
            </a:r>
            <a:endParaRPr lang="en-US" sz="1500" dirty="0"/>
          </a:p>
        </p:txBody>
      </p:sp>
      <p:sp>
        <p:nvSpPr>
          <p:cNvPr id="6" name="Text 3"/>
          <p:cNvSpPr txBox="1"/>
          <p:nvPr/>
        </p:nvSpPr>
        <p:spPr>
          <a:xfrm>
            <a:off x="3749040" y="1444752"/>
            <a:ext cx="7616952" cy="1042416"/>
          </a:xfrm>
          <a:prstGeom prst="rect">
            <a:avLst/>
          </a:prstGeom>
          <a:noFill/>
          <a:ln/>
        </p:spPr>
        <p:txBody>
          <a:bodyPr wrap="square" lIns="0" tIns="0" rIns="0" bIns="0" rtlCol="0" anchor="ctr"/>
          <a:lstStyle/>
          <a:p>
            <a:pPr indent="0" marL="0">
              <a:buNone/>
            </a:pPr>
            <a:r>
              <a:rPr lang="en-US" sz="1300" i="1" dirty="0">
                <a:solidFill>
                  <a:schemeClr val="tx1"/>
                </a:solidFill>
              </a:rPr>
              <a:t>"…tested regularly to validate their effectiveness and prompt any necessary adjustments or enhancements."</a:t>
            </a:r>
            <a:endParaRPr lang="en-US" sz="1300" dirty="0"/>
          </a:p>
        </p:txBody>
      </p:sp>
      <p:sp>
        <p:nvSpPr>
          <p:cNvPr id="7" name="anat1"/>
          <p:cNvSpPr/>
          <p:nvPr/>
        </p:nvSpPr>
        <p:spPr>
          <a:xfrm>
            <a:off x="548640" y="2697480"/>
            <a:ext cx="11091672" cy="731520"/>
          </a:xfrm>
          <a:prstGeom prst="roundRect">
            <a:avLst>
              <a:gd name="adj" fmla="val 15000"/>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22960" y="2788920"/>
            <a:ext cx="2743200" cy="548640"/>
          </a:xfrm>
          <a:prstGeom prst="rect">
            <a:avLst/>
          </a:prstGeom>
          <a:noFill/>
          <a:ln/>
        </p:spPr>
        <p:txBody>
          <a:bodyPr wrap="square" lIns="0" tIns="0" rIns="0" bIns="0" rtlCol="0" anchor="ctr"/>
          <a:lstStyle/>
          <a:p>
            <a:pPr indent="0" marL="0">
              <a:buNone/>
            </a:pPr>
            <a:r>
              <a:rPr lang="en-US" sz="1500" b="1" dirty="0">
                <a:solidFill>
                  <a:schemeClr val="accent2"/>
                </a:solidFill>
              </a:rPr>
              <a:t>② 인용이 확립하는 사실</a:t>
            </a:r>
            <a:endParaRPr lang="en-US" sz="1500" dirty="0"/>
          </a:p>
        </p:txBody>
      </p:sp>
      <p:sp>
        <p:nvSpPr>
          <p:cNvPr id="9" name="Text 6"/>
          <p:cNvSpPr txBox="1"/>
          <p:nvPr/>
        </p:nvSpPr>
        <p:spPr>
          <a:xfrm>
            <a:off x="3749040" y="2770632"/>
            <a:ext cx="7616952" cy="585216"/>
          </a:xfrm>
          <a:prstGeom prst="rect">
            <a:avLst/>
          </a:prstGeom>
          <a:noFill/>
          <a:ln/>
        </p:spPr>
        <p:txBody>
          <a:bodyPr wrap="square" lIns="0" tIns="0" rIns="0" bIns="0" rtlCol="0" anchor="ctr"/>
          <a:lstStyle/>
          <a:p>
            <a:pPr indent="0" marL="0">
              <a:buNone/>
            </a:pPr>
            <a:r>
              <a:rPr lang="en-US" sz="1500" dirty="0">
                <a:solidFill>
                  <a:schemeClr val="tx1"/>
                </a:solidFill>
              </a:rPr>
              <a:t>연습은 필요한 조정·개선을 촉구한다. (관계동사: 개정·갱신한다)</a:t>
            </a:r>
            <a:endParaRPr lang="en-US" sz="1500" dirty="0"/>
          </a:p>
        </p:txBody>
      </p:sp>
      <p:sp>
        <p:nvSpPr>
          <p:cNvPr id="10" name="anat2"/>
          <p:cNvSpPr/>
          <p:nvPr/>
        </p:nvSpPr>
        <p:spPr>
          <a:xfrm>
            <a:off x="548640" y="3566160"/>
            <a:ext cx="11091672" cy="1005840"/>
          </a:xfrm>
          <a:prstGeom prst="roundRect">
            <a:avLst>
              <a:gd name="adj" fmla="val 10909"/>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22960" y="3657600"/>
            <a:ext cx="2743200" cy="822960"/>
          </a:xfrm>
          <a:prstGeom prst="rect">
            <a:avLst/>
          </a:prstGeom>
          <a:noFill/>
          <a:ln/>
        </p:spPr>
        <p:txBody>
          <a:bodyPr wrap="square" lIns="0" tIns="0" rIns="0" bIns="0" rtlCol="0" anchor="ctr"/>
          <a:lstStyle/>
          <a:p>
            <a:pPr indent="0" marL="0">
              <a:buNone/>
            </a:pPr>
            <a:r>
              <a:rPr lang="en-US" sz="1500" b="1" dirty="0">
                <a:solidFill>
                  <a:schemeClr val="accent5"/>
                </a:solidFill>
              </a:rPr>
              <a:t>③ 연구자 의견</a:t>
            </a:r>
            <a:endParaRPr lang="en-US" sz="1500" dirty="0"/>
          </a:p>
        </p:txBody>
      </p:sp>
      <p:sp>
        <p:nvSpPr>
          <p:cNvPr id="12" name="Text 9"/>
          <p:cNvSpPr txBox="1"/>
          <p:nvPr/>
        </p:nvSpPr>
        <p:spPr>
          <a:xfrm>
            <a:off x="3749040" y="3639312"/>
            <a:ext cx="7616952" cy="859536"/>
          </a:xfrm>
          <a:prstGeom prst="rect">
            <a:avLst/>
          </a:prstGeom>
          <a:noFill/>
          <a:ln/>
        </p:spPr>
        <p:txBody>
          <a:bodyPr wrap="square" lIns="0" tIns="0" rIns="0" bIns="0" rtlCol="0" anchor="ctr"/>
          <a:lstStyle/>
          <a:p>
            <a:pPr indent="0" marL="0">
              <a:buNone/>
            </a:pPr>
            <a:r>
              <a:rPr lang="en-US" sz="1500" dirty="0">
                <a:solidFill>
                  <a:schemeClr val="tx1"/>
                </a:solidFill>
              </a:rPr>
              <a:t>조정 대상은 전략·솔루션·계획·절차 모두이나, 본 연결은 BC 계획·절차로 한정했습니다. 방향 해석도 연구자 해석입니다.</a:t>
            </a:r>
            <a:endParaRPr lang="en-US" sz="1500" dirty="0"/>
          </a:p>
        </p:txBody>
      </p:sp>
      <p:sp>
        <p:nvSpPr>
          <p:cNvPr id="13" name="anat3"/>
          <p:cNvSpPr/>
          <p:nvPr/>
        </p:nvSpPr>
        <p:spPr>
          <a:xfrm>
            <a:off x="548640" y="4663440"/>
            <a:ext cx="11091672" cy="1600200"/>
          </a:xfrm>
          <a:prstGeom prst="roundRect">
            <a:avLst>
              <a:gd name="adj" fmla="val 6857"/>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4" name="Text 11"/>
          <p:cNvSpPr txBox="1"/>
          <p:nvPr/>
        </p:nvSpPr>
        <p:spPr>
          <a:xfrm>
            <a:off x="822960" y="4754880"/>
            <a:ext cx="2743200" cy="1417320"/>
          </a:xfrm>
          <a:prstGeom prst="rect">
            <a:avLst/>
          </a:prstGeom>
          <a:noFill/>
          <a:ln/>
        </p:spPr>
        <p:txBody>
          <a:bodyPr wrap="square" lIns="0" tIns="0" rIns="0" bIns="0" rtlCol="0" anchor="ctr"/>
          <a:lstStyle/>
          <a:p>
            <a:pPr indent="0" marL="0">
              <a:buNone/>
            </a:pPr>
            <a:r>
              <a:rPr lang="en-US" sz="1500" b="1" dirty="0">
                <a:solidFill>
                  <a:schemeClr val="accent1"/>
                </a:solidFill>
              </a:rPr>
              <a:t>④ 문항 (6개 중 3개)</a:t>
            </a:r>
            <a:endParaRPr lang="en-US" sz="1500" dirty="0"/>
          </a:p>
        </p:txBody>
      </p:sp>
      <p:sp>
        <p:nvSpPr>
          <p:cNvPr id="15" name="Text 12"/>
          <p:cNvSpPr txBox="1"/>
          <p:nvPr/>
        </p:nvSpPr>
        <p:spPr>
          <a:xfrm>
            <a:off x="3749040" y="4736592"/>
            <a:ext cx="7616952" cy="1453896"/>
          </a:xfrm>
          <a:prstGeom prst="rect">
            <a:avLst/>
          </a:prstGeom>
          <a:noFill/>
          <a:ln/>
        </p:spPr>
        <p:txBody>
          <a:bodyPr wrap="square" lIns="0" tIns="0" rIns="0" bIns="0" rtlCol="0" anchor="ctr"/>
          <a:lstStyle/>
          <a:p>
            <a:pPr indent="0" marL="0">
              <a:buNone/>
            </a:pPr>
            <a:r>
              <a:rPr lang="en-US" sz="1200" dirty="0">
                <a:solidFill>
                  <a:schemeClr val="tx1"/>
                </a:solidFill>
              </a:rPr>
              <a:t>정합성: 우리 조직에서는 연습 결과(문제점·개선 사항)가 BC 계획·절차의 개정으로 이어질 때, 두 내용이 서로 모순 없이 일치한다.</a:t>
            </a:r>
            <a:endParaRPr lang="en-US" sz="1200" dirty="0"/>
          </a:p>
          <a:p>
            <a:pPr indent="0" marL="0">
              <a:buNone/>
            </a:pPr>
            <a:r>
              <a:rPr lang="en-US" sz="1200" dirty="0">
                <a:solidFill>
                  <a:schemeClr val="tx1"/>
                </a:solidFill>
              </a:rPr>
              <a:t>최신성: 우리 조직에서는 새 연습 결과가 나오면, BC 계획·절차에 정해진 기간 안에 반영된다.</a:t>
            </a:r>
            <a:endParaRPr lang="en-US" sz="1200" dirty="0"/>
          </a:p>
          <a:p>
            <a:pPr indent="0" marL="0">
              <a:buNone/>
            </a:pPr>
            <a:r>
              <a:rPr lang="en-US" sz="1200" dirty="0">
                <a:solidFill>
                  <a:schemeClr val="tx1"/>
                </a:solidFill>
              </a:rPr>
              <a:t>환류폐쇄성: 우리 조직에서는 연습에서 문제점·개선 사항이 나오면, BC 계획·절차의 재수정까지 조치가 이어져 완료가 확인된다.</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가설인 연결 5개</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822960"/>
                <a:gridCol w="3291840"/>
                <a:gridCol w="822960"/>
                <a:gridCol w="6153912"/>
              </a:tblGrid>
              <a:tr h="457200">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ID</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연결</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등급</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c>
                  <a:txBody>
                    <a:bodyPr/>
                    <a:lstStyle/>
                    <a:p>
                      <a:pPr indent="0" marL="0">
                        <a:buNone/>
                      </a:pPr>
                      <a:r>
                        <a:rPr lang="en-US" sz="1400" b="1" dirty="0">
                          <a:solidFill>
                            <a:srgbClr val="FFFFFF"/>
                          </a:solidFill>
                          <a:latin typeface="맑은 고딕" pitchFamily="34" charset="0"/>
                          <a:ea typeface="맑은 고딕" pitchFamily="34" charset="-122"/>
                          <a:cs typeface="맑은 고딕" pitchFamily="34" charset="-120"/>
                        </a:rPr>
                        <a:t>왜 가설인가</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14213D"/>
                    </a:solidFill>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L10</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자원관리 → 솔루션 이행</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원문은 "전략 이행·운영용 자원"만 말함. 도착을 이행관리로 특정한 것은 연구자</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BC 계획·절차 → 사고·비상 대응</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E2</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E8A317"/>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계획 실행은 서술, "사고 대응" 프로세스와의 결합은 연구자</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L11</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BIA → 자원관리</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Białas의 BIA 보고서 속성에서 유추. Arias에는 없음</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L17</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BC 계획·절차 → 인식·교육</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교육 프로그램은 있으나 계획과의 연결 서술 없음</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r h="731520">
                <a:tc>
                  <a:txBody>
                    <a:bodyPr/>
                    <a:lstStyle/>
                    <a:p>
                      <a:pPr indent="0" marL="0">
                        <a:buNone/>
                      </a:pPr>
                      <a:r>
                        <a:rPr lang="en-US" sz="1400" b="1" dirty="0">
                          <a:solidFill>
                            <a:srgbClr val="000000"/>
                          </a:solidFill>
                          <a:latin typeface="맑은 고딕" pitchFamily="34" charset="0"/>
                          <a:ea typeface="맑은 고딕" pitchFamily="34" charset="-122"/>
                          <a:cs typeface="맑은 고딕" pitchFamily="34" charset="-120"/>
                        </a:rPr>
                        <a:t>L29</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거버넌스 → 정책관리</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c>
                  <a:txBody>
                    <a:bodyPr/>
                    <a:lstStyle/>
                    <a:p>
                      <a:pPr algn="ctr" indent="0" marL="0">
                        <a:buNone/>
                      </a:pPr>
                      <a:r>
                        <a:rPr lang="en-US" sz="1400" b="1" dirty="0">
                          <a:solidFill>
                            <a:srgbClr val="FFFFFF"/>
                          </a:solidFill>
                          <a:latin typeface="맑은 고딕" pitchFamily="34" charset="0"/>
                          <a:ea typeface="맑은 고딕" pitchFamily="34" charset="-122"/>
                          <a:cs typeface="맑은 고딕" pitchFamily="34" charset="-120"/>
                        </a:rPr>
                        <a:t>E3</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solidFill>
                      <a:srgbClr val="D64545"/>
                    </a:solidFill>
                  </a:tcPr>
                </a:tc>
                <a:tc>
                  <a:txBody>
                    <a:bodyPr/>
                    <a:lstStyle/>
                    <a:p>
                      <a:pPr indent="0" marL="0">
                        <a:buNone/>
                      </a:pPr>
                      <a:r>
                        <a:rPr lang="en-US" sz="1400" dirty="0">
                          <a:solidFill>
                            <a:srgbClr val="000000"/>
                          </a:solidFill>
                          <a:latin typeface="맑은 고딕" pitchFamily="34" charset="0"/>
                          <a:ea typeface="맑은 고딕" pitchFamily="34" charset="-122"/>
                          <a:cs typeface="맑은 고딕" pitchFamily="34" charset="-120"/>
                        </a:rPr>
                        <a:t>각각만 서술. Białas는 정책과 목표를 병렬 항목으로 둠</a:t>
                      </a:r>
                      <a:endParaRPr lang="en-US" sz="1400" dirty="0">
                        <a:latin typeface="맑은 고딕" charset="0"/>
                        <a:ea typeface="맑은 고딕" charset="0"/>
                        <a:cs typeface="맑은 고딕" charset="0"/>
                      </a:endParaRPr>
                    </a:p>
                  </a:txBody>
                  <a:tcPr marL="91440" marR="91440" marT="45720" marB="45720" anchor="ctr">
                    <a:lnL w="9525" cap="flat" cmpd="sng" algn="ctr">
                      <a:solidFill>
                        <a:srgbClr val="D0D5DD"/>
                      </a:solidFill>
                      <a:prstDash val="solid"/>
                      <a:round/>
                      <a:headEnd type="none" w="med" len="med"/>
                      <a:tailEnd type="none" w="med" len="med"/>
                    </a:lnL>
                    <a:lnR w="9525" cap="flat" cmpd="sng" algn="ctr">
                      <a:solidFill>
                        <a:srgbClr val="D0D5DD"/>
                      </a:solidFill>
                      <a:prstDash val="solid"/>
                      <a:round/>
                      <a:headEnd type="none" w="med" len="med"/>
                      <a:tailEnd type="none" w="med" len="med"/>
                    </a:lnR>
                    <a:lnT w="9525" cap="flat" cmpd="sng" algn="ctr">
                      <a:solidFill>
                        <a:srgbClr val="D0D5DD"/>
                      </a:solidFill>
                      <a:prstDash val="solid"/>
                      <a:round/>
                      <a:headEnd type="none" w="med" len="med"/>
                      <a:tailEnd type="none" w="med" len="med"/>
                    </a:lnT>
                    <a:lnB w="9525" cap="flat" cmpd="sng" algn="ctr">
                      <a:solidFill>
                        <a:srgbClr val="D0D5DD"/>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이 제안을 어떻게 볼까</a:t>
            </a:r>
            <a:endParaRPr lang="en-US" sz="3200" dirty="0"/>
          </a:p>
        </p:txBody>
      </p:sp>
      <p:sp>
        <p:nvSpPr>
          <p:cNvPr id="4" name="pros"/>
          <p:cNvSpPr/>
          <p:nvPr/>
        </p:nvSpPr>
        <p:spPr>
          <a:xfrm>
            <a:off x="548640" y="1371600"/>
            <a:ext cx="5440680" cy="4663440"/>
          </a:xfrm>
          <a:prstGeom prst="roundRect">
            <a:avLst>
              <a:gd name="adj" fmla="val 23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chip"/>
          <p:cNvSpPr/>
          <p:nvPr/>
        </p:nvSpPr>
        <p:spPr>
          <a:xfrm>
            <a:off x="822960" y="1600200"/>
            <a:ext cx="1188720" cy="310896"/>
          </a:xfrm>
          <a:prstGeom prst="roundRect">
            <a:avLst>
              <a:gd name="adj" fmla="val 50000"/>
            </a:avLst>
          </a:prstGeom>
          <a:solidFill>
            <a:srgbClr val="2E9E6B"/>
          </a:solidFill>
          <a:ln w="6350">
            <a:solidFill>
              <a:srgbClr val="2E9E6B"/>
            </a:solidFill>
            <a:prstDash val="solid"/>
          </a:ln>
        </p:spPr>
      </p:sp>
      <p:sp>
        <p:nvSpPr>
          <p:cNvPr id="6" name="Text 3"/>
          <p:cNvSpPr txBox="1"/>
          <p:nvPr/>
        </p:nvSpPr>
        <p:spPr>
          <a:xfrm>
            <a:off x="822960" y="1600200"/>
            <a:ext cx="1188720" cy="310896"/>
          </a:xfrm>
          <a:prstGeom prst="rect">
            <a:avLst/>
          </a:prstGeom>
          <a:noFill/>
          <a:ln/>
        </p:spPr>
        <p:txBody>
          <a:bodyPr wrap="square" lIns="0" tIns="0" rIns="0" bIns="0" rtlCol="0" anchor="ctr"/>
          <a:lstStyle/>
          <a:p>
            <a:pPr algn="ctr" indent="0" marL="0">
              <a:buNone/>
            </a:pPr>
            <a:r>
              <a:rPr lang="en-US" sz="1200" b="1" dirty="0">
                <a:solidFill>
                  <a:schemeClr val="bg1"/>
                </a:solidFill>
              </a:rPr>
              <a:t>좋은 점</a:t>
            </a:r>
            <a:endParaRPr lang="en-US" sz="1200" dirty="0"/>
          </a:p>
        </p:txBody>
      </p:sp>
      <p:sp>
        <p:nvSpPr>
          <p:cNvPr id="7" name="Text 4"/>
          <p:cNvSpPr txBox="1"/>
          <p:nvPr/>
        </p:nvSpPr>
        <p:spPr>
          <a:xfrm>
            <a:off x="822960" y="2148840"/>
            <a:ext cx="4937760" cy="3749040"/>
          </a:xfrm>
          <a:prstGeom prst="rect">
            <a:avLst/>
          </a:prstGeom>
          <a:noFill/>
          <a:ln/>
        </p:spPr>
        <p:txBody>
          <a:bodyPr wrap="square" lIns="0" tIns="0" rIns="0" bIns="0" rtlCol="0" anchor="t"/>
          <a:lstStyle/>
          <a:p>
            <a:pPr marL="342900" indent="-342900">
              <a:spcAft>
                <a:spcPts val="1200"/>
              </a:spcAft>
              <a:buSzPct val="100000"/>
              <a:buChar char="•"/>
            </a:pPr>
            <a:r>
              <a:rPr lang="en-US" sz="1500" dirty="0">
                <a:solidFill>
                  <a:schemeClr val="tx1"/>
                </a:solidFill>
              </a:rPr>
              <a:t>무엇을(객체) · 어떻게(관계) · 얼마나 잘(품질)으로 층이 나뉘어 논리와 측정이 분명하다</a:t>
            </a:r>
            <a:endParaRPr lang="en-US" sz="1500" dirty="0"/>
          </a:p>
          <a:p>
            <a:pPr marL="342900" indent="-342900">
              <a:spcAft>
                <a:spcPts val="1200"/>
              </a:spcAft>
              <a:buSzPct val="100000"/>
              <a:buChar char="•"/>
            </a:pPr>
            <a:r>
              <a:rPr lang="en-US" sz="1500" dirty="0">
                <a:solidFill>
                  <a:schemeClr val="tx1"/>
                </a:solidFill>
              </a:rPr>
              <a:t>6개 차원이 추적성, 일관성, 적시성, 책임성, 환류 같은 기존 개념에 대응한다</a:t>
            </a:r>
            <a:endParaRPr lang="en-US" sz="1500" dirty="0"/>
          </a:p>
          <a:p>
            <a:pPr marL="342900" indent="-342900">
              <a:spcAft>
                <a:spcPts val="1200"/>
              </a:spcAft>
              <a:buSzPct val="100000"/>
              <a:buChar char="•"/>
            </a:pPr>
            <a:r>
              <a:rPr lang="en-US" sz="1500" dirty="0">
                <a:solidFill>
                  <a:schemeClr val="tx1"/>
                </a:solidFill>
              </a:rPr>
              <a:t>V2의 반영·확인·갱신보다 단계와 활동이 섞이지 않는다</a:t>
            </a:r>
            <a:endParaRPr lang="en-US" sz="1500" dirty="0"/>
          </a:p>
        </p:txBody>
      </p:sp>
      <p:sp>
        <p:nvSpPr>
          <p:cNvPr id="8" name="cons"/>
          <p:cNvSpPr/>
          <p:nvPr/>
        </p:nvSpPr>
        <p:spPr>
          <a:xfrm>
            <a:off x="6199632" y="1371600"/>
            <a:ext cx="5440680" cy="4663440"/>
          </a:xfrm>
          <a:prstGeom prst="roundRect">
            <a:avLst>
              <a:gd name="adj" fmla="val 23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9" name="chip"/>
          <p:cNvSpPr/>
          <p:nvPr/>
        </p:nvSpPr>
        <p:spPr>
          <a:xfrm>
            <a:off x="6473952" y="1600200"/>
            <a:ext cx="1371600" cy="310896"/>
          </a:xfrm>
          <a:prstGeom prst="roundRect">
            <a:avLst>
              <a:gd name="adj" fmla="val 50000"/>
            </a:avLst>
          </a:prstGeom>
          <a:solidFill>
            <a:srgbClr val="D64545"/>
          </a:solidFill>
          <a:ln w="6350">
            <a:solidFill>
              <a:srgbClr val="D64545"/>
            </a:solidFill>
            <a:prstDash val="solid"/>
          </a:ln>
        </p:spPr>
      </p:sp>
      <p:sp>
        <p:nvSpPr>
          <p:cNvPr id="10" name="Text 7"/>
          <p:cNvSpPr txBox="1"/>
          <p:nvPr/>
        </p:nvSpPr>
        <p:spPr>
          <a:xfrm>
            <a:off x="6473952" y="1600200"/>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조심할 점</a:t>
            </a:r>
            <a:endParaRPr lang="en-US" sz="1200" dirty="0"/>
          </a:p>
        </p:txBody>
      </p:sp>
      <p:sp>
        <p:nvSpPr>
          <p:cNvPr id="11" name="Text 8"/>
          <p:cNvSpPr txBox="1"/>
          <p:nvPr/>
        </p:nvSpPr>
        <p:spPr>
          <a:xfrm>
            <a:off x="6473952" y="2148840"/>
            <a:ext cx="4937760" cy="374904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문항이 163개로 많다 → 영역별 분할 배포 필요</a:t>
            </a:r>
            <a:endParaRPr lang="en-US" sz="1500" dirty="0"/>
          </a:p>
          <a:p>
            <a:pPr marL="342900" indent="-342900">
              <a:spcAft>
                <a:spcPts val="1000"/>
              </a:spcAft>
              <a:buSzPct val="100000"/>
              <a:buChar char="•"/>
            </a:pPr>
            <a:r>
              <a:rPr lang="en-US" sz="1500" dirty="0">
                <a:solidFill>
                  <a:schemeClr val="tx1"/>
                </a:solidFill>
              </a:rPr>
              <a:t>정합성·추적성·증빙성이 겹칠 수 있다 → 변별타당도 검증</a:t>
            </a:r>
            <a:endParaRPr lang="en-US" sz="1500" dirty="0"/>
          </a:p>
          <a:p>
            <a:pPr marL="342900" indent="-342900">
              <a:spcAft>
                <a:spcPts val="1000"/>
              </a:spcAft>
              <a:buSzPct val="100000"/>
              <a:buChar char="•"/>
            </a:pPr>
            <a:r>
              <a:rPr lang="en-US" sz="1500" dirty="0">
                <a:solidFill>
                  <a:schemeClr val="tx1"/>
                </a:solidFill>
              </a:rPr>
              <a:t>추적성은 두 논문에 근거가 없다 → 외부 문헌 원문 확인 필수</a:t>
            </a:r>
            <a:endParaRPr lang="en-US" sz="1500" dirty="0"/>
          </a:p>
          <a:p>
            <a:pPr marL="342900" indent="-342900">
              <a:spcAft>
                <a:spcPts val="1000"/>
              </a:spcAft>
              <a:buSzPct val="100000"/>
              <a:buChar char="•"/>
            </a:pPr>
            <a:r>
              <a:rPr lang="en-US" sz="1500" dirty="0">
                <a:solidFill>
                  <a:schemeClr val="tx1"/>
                </a:solidFill>
              </a:rPr>
              <a:t>환류폐쇄성은 연결 8개에만 적용된다</a:t>
            </a:r>
            <a:endParaRPr lang="en-US" sz="1500" dirty="0"/>
          </a:p>
          <a:p>
            <a:pPr marL="342900" indent="-342900">
              <a:spcAft>
                <a:spcPts val="1000"/>
              </a:spcAft>
              <a:buSzPct val="100000"/>
              <a:buChar char="•"/>
            </a:pPr>
            <a:r>
              <a:rPr lang="en-US" sz="1500" dirty="0">
                <a:solidFill>
                  <a:schemeClr val="tx1"/>
                </a:solidFill>
              </a:rPr>
              <a:t>6차원 합산은 가중치 근거가 필요하다 → 형성적 지수로 보고 검증</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4단계: 맞게 쟀는지 확인</a:t>
            </a:r>
            <a:endParaRPr lang="en-US" sz="3200" dirty="0"/>
          </a:p>
        </p:txBody>
      </p:sp>
      <p:sp>
        <p:nvSpPr>
          <p:cNvPr id="4" name="val0"/>
          <p:cNvSpPr/>
          <p:nvPr/>
        </p:nvSpPr>
        <p:spPr>
          <a:xfrm>
            <a:off x="548640" y="1371600"/>
            <a:ext cx="6766560" cy="1051560"/>
          </a:xfrm>
          <a:prstGeom prst="roundRect">
            <a:avLst>
              <a:gd name="adj" fmla="val 10435"/>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badge"/>
          <p:cNvSpPr/>
          <p:nvPr/>
        </p:nvSpPr>
        <p:spPr>
          <a:xfrm>
            <a:off x="777240" y="1600200"/>
            <a:ext cx="594360" cy="594360"/>
          </a:xfrm>
          <a:prstGeom prst="ellipse">
            <a:avLst/>
          </a:prstGeom>
          <a:solidFill>
            <a:schemeClr val="accent1"/>
          </a:solidFill>
          <a:ln w="6350">
            <a:solidFill>
              <a:schemeClr val="accent1"/>
            </a:solidFill>
            <a:prstDash val="solid"/>
          </a:ln>
        </p:spPr>
      </p:sp>
      <p:sp>
        <p:nvSpPr>
          <p:cNvPr id="6"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7" name="Text 4"/>
          <p:cNvSpPr txBox="1"/>
          <p:nvPr/>
        </p:nvSpPr>
        <p:spPr>
          <a:xfrm>
            <a:off x="1600200" y="1463040"/>
            <a:ext cx="5577840" cy="411480"/>
          </a:xfrm>
          <a:prstGeom prst="rect">
            <a:avLst/>
          </a:prstGeom>
          <a:noFill/>
          <a:ln/>
        </p:spPr>
        <p:txBody>
          <a:bodyPr wrap="square" lIns="0" tIns="0" rIns="0" bIns="0" rtlCol="0" anchor="t"/>
          <a:lstStyle/>
          <a:p>
            <a:pPr indent="0" marL="0">
              <a:buNone/>
            </a:pPr>
            <a:r>
              <a:rPr lang="en-US" sz="1800" b="1" dirty="0">
                <a:solidFill>
                  <a:schemeClr val="tx2"/>
                </a:solidFill>
              </a:rPr>
              <a:t>외부 문헌 원문 확인  ·  연구자</a:t>
            </a:r>
            <a:endParaRPr lang="en-US" sz="1800" dirty="0"/>
          </a:p>
        </p:txBody>
      </p:sp>
      <p:sp>
        <p:nvSpPr>
          <p:cNvPr id="8" name="Text 5"/>
          <p:cNvSpPr txBox="1"/>
          <p:nvPr/>
        </p:nvSpPr>
        <p:spPr>
          <a:xfrm>
            <a:off x="1600200" y="1874520"/>
            <a:ext cx="5577840" cy="502920"/>
          </a:xfrm>
          <a:prstGeom prst="rect">
            <a:avLst/>
          </a:prstGeom>
          <a:noFill/>
          <a:ln/>
        </p:spPr>
        <p:txBody>
          <a:bodyPr wrap="square" lIns="0" tIns="0" rIns="0" bIns="0" rtlCol="0" anchor="t"/>
          <a:lstStyle/>
          <a:p>
            <a:pPr indent="0" marL="0">
              <a:buNone/>
            </a:pPr>
            <a:r>
              <a:rPr lang="en-US" sz="1300" dirty="0">
                <a:solidFill>
                  <a:schemeClr val="tx1"/>
                </a:solidFill>
              </a:rPr>
              <a:t>학술근거 시트에 쪽 번호와 원문 문장을 기입 (미확인 12건)</a:t>
            </a:r>
            <a:endParaRPr lang="en-US" sz="1300" dirty="0"/>
          </a:p>
        </p:txBody>
      </p:sp>
      <p:sp>
        <p:nvSpPr>
          <p:cNvPr id="9" name="val1"/>
          <p:cNvSpPr/>
          <p:nvPr/>
        </p:nvSpPr>
        <p:spPr>
          <a:xfrm>
            <a:off x="548640" y="2560320"/>
            <a:ext cx="6766560" cy="1051560"/>
          </a:xfrm>
          <a:prstGeom prst="roundRect">
            <a:avLst>
              <a:gd name="adj" fmla="val 10435"/>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badge"/>
          <p:cNvSpPr/>
          <p:nvPr/>
        </p:nvSpPr>
        <p:spPr>
          <a:xfrm>
            <a:off x="777240" y="2788920"/>
            <a:ext cx="594360" cy="594360"/>
          </a:xfrm>
          <a:prstGeom prst="ellipse">
            <a:avLst/>
          </a:prstGeom>
          <a:solidFill>
            <a:schemeClr val="accent1"/>
          </a:solidFill>
          <a:ln w="6350">
            <a:solidFill>
              <a:schemeClr val="accent1"/>
            </a:solidFill>
            <a:prstDash val="solid"/>
          </a:ln>
        </p:spPr>
      </p:sp>
      <p:sp>
        <p:nvSpPr>
          <p:cNvPr id="11" name="Text 8"/>
          <p:cNvSpPr txBox="1"/>
          <p:nvPr/>
        </p:nvSpPr>
        <p:spPr>
          <a:xfrm>
            <a:off x="777240" y="278892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2" name="Text 9"/>
          <p:cNvSpPr txBox="1"/>
          <p:nvPr/>
        </p:nvSpPr>
        <p:spPr>
          <a:xfrm>
            <a:off x="1600200" y="2651760"/>
            <a:ext cx="5577840" cy="411480"/>
          </a:xfrm>
          <a:prstGeom prst="rect">
            <a:avLst/>
          </a:prstGeom>
          <a:noFill/>
          <a:ln/>
        </p:spPr>
        <p:txBody>
          <a:bodyPr wrap="square" lIns="0" tIns="0" rIns="0" bIns="0" rtlCol="0" anchor="t"/>
          <a:lstStyle/>
          <a:p>
            <a:pPr indent="0" marL="0">
              <a:buNone/>
            </a:pPr>
            <a:r>
              <a:rPr lang="en-US" sz="1800" b="1" dirty="0">
                <a:solidFill>
                  <a:schemeClr val="tx2"/>
                </a:solidFill>
              </a:rPr>
              <a:t>전문가 평가  ·  6~10명</a:t>
            </a:r>
            <a:endParaRPr lang="en-US" sz="1800" dirty="0"/>
          </a:p>
        </p:txBody>
      </p:sp>
      <p:sp>
        <p:nvSpPr>
          <p:cNvPr id="13" name="Text 10"/>
          <p:cNvSpPr txBox="1"/>
          <p:nvPr/>
        </p:nvSpPr>
        <p:spPr>
          <a:xfrm>
            <a:off x="1600200" y="3063240"/>
            <a:ext cx="5577840" cy="502920"/>
          </a:xfrm>
          <a:prstGeom prst="rect">
            <a:avLst/>
          </a:prstGeom>
          <a:noFill/>
          <a:ln/>
        </p:spPr>
        <p:txBody>
          <a:bodyPr wrap="square" lIns="0" tIns="0" rIns="0" bIns="0" rtlCol="0" anchor="t"/>
          <a:lstStyle/>
          <a:p>
            <a:pPr indent="0" marL="0">
              <a:buNone/>
            </a:pPr>
            <a:r>
              <a:rPr lang="en-US" sz="1300" dirty="0">
                <a:solidFill>
                  <a:schemeClr val="tx1"/>
                </a:solidFill>
              </a:rPr>
              <a:t>80% 이상 채택 · 20~80% 토론 · 20% 미만 삭제 (Arias 방식)</a:t>
            </a:r>
            <a:endParaRPr lang="en-US" sz="1300" dirty="0"/>
          </a:p>
        </p:txBody>
      </p:sp>
      <p:sp>
        <p:nvSpPr>
          <p:cNvPr id="14" name="val2"/>
          <p:cNvSpPr/>
          <p:nvPr/>
        </p:nvSpPr>
        <p:spPr>
          <a:xfrm>
            <a:off x="548640" y="3749040"/>
            <a:ext cx="6766560" cy="1051560"/>
          </a:xfrm>
          <a:prstGeom prst="roundRect">
            <a:avLst>
              <a:gd name="adj" fmla="val 10435"/>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badge"/>
          <p:cNvSpPr/>
          <p:nvPr/>
        </p:nvSpPr>
        <p:spPr>
          <a:xfrm>
            <a:off x="777240" y="3977640"/>
            <a:ext cx="594360" cy="594360"/>
          </a:xfrm>
          <a:prstGeom prst="ellipse">
            <a:avLst/>
          </a:prstGeom>
          <a:solidFill>
            <a:schemeClr val="accent1"/>
          </a:solidFill>
          <a:ln w="6350">
            <a:solidFill>
              <a:schemeClr val="accent1"/>
            </a:solidFill>
            <a:prstDash val="solid"/>
          </a:ln>
        </p:spPr>
      </p:sp>
      <p:sp>
        <p:nvSpPr>
          <p:cNvPr id="16" name="Text 13"/>
          <p:cNvSpPr txBox="1"/>
          <p:nvPr/>
        </p:nvSpPr>
        <p:spPr>
          <a:xfrm>
            <a:off x="777240" y="397764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17" name="Text 14"/>
          <p:cNvSpPr txBox="1"/>
          <p:nvPr/>
        </p:nvSpPr>
        <p:spPr>
          <a:xfrm>
            <a:off x="1600200" y="3840480"/>
            <a:ext cx="5577840" cy="411480"/>
          </a:xfrm>
          <a:prstGeom prst="rect">
            <a:avLst/>
          </a:prstGeom>
          <a:noFill/>
          <a:ln/>
        </p:spPr>
        <p:txBody>
          <a:bodyPr wrap="square" lIns="0" tIns="0" rIns="0" bIns="0" rtlCol="0" anchor="t"/>
          <a:lstStyle/>
          <a:p>
            <a:pPr indent="0" marL="0">
              <a:buNone/>
            </a:pPr>
            <a:r>
              <a:rPr lang="en-US" sz="1800" b="1" dirty="0">
                <a:solidFill>
                  <a:schemeClr val="tx2"/>
                </a:solidFill>
              </a:rPr>
              <a:t>인지면담  ·  5~8명</a:t>
            </a:r>
            <a:endParaRPr lang="en-US" sz="1800" dirty="0"/>
          </a:p>
        </p:txBody>
      </p:sp>
      <p:sp>
        <p:nvSpPr>
          <p:cNvPr id="18" name="Text 15"/>
          <p:cNvSpPr txBox="1"/>
          <p:nvPr/>
        </p:nvSpPr>
        <p:spPr>
          <a:xfrm>
            <a:off x="1600200" y="4251960"/>
            <a:ext cx="5577840" cy="502920"/>
          </a:xfrm>
          <a:prstGeom prst="rect">
            <a:avLst/>
          </a:prstGeom>
          <a:noFill/>
          <a:ln/>
        </p:spPr>
        <p:txBody>
          <a:bodyPr wrap="square" lIns="0" tIns="0" rIns="0" bIns="0" rtlCol="0" anchor="t"/>
          <a:lstStyle/>
          <a:p>
            <a:pPr indent="0" marL="0">
              <a:buNone/>
            </a:pPr>
            <a:r>
              <a:rPr lang="en-US" sz="1300" dirty="0">
                <a:solidFill>
                  <a:schemeClr val="tx1"/>
                </a:solidFill>
              </a:rPr>
              <a:t>문항을 자기 말로 바꿔 설명하게 해 오해 찾기</a:t>
            </a:r>
            <a:endParaRPr lang="en-US" sz="1300" dirty="0"/>
          </a:p>
        </p:txBody>
      </p:sp>
      <p:sp>
        <p:nvSpPr>
          <p:cNvPr id="19" name="val3"/>
          <p:cNvSpPr/>
          <p:nvPr/>
        </p:nvSpPr>
        <p:spPr>
          <a:xfrm>
            <a:off x="548640" y="4937760"/>
            <a:ext cx="6766560" cy="1051560"/>
          </a:xfrm>
          <a:prstGeom prst="roundRect">
            <a:avLst>
              <a:gd name="adj" fmla="val 10435"/>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0" name="badge"/>
          <p:cNvSpPr/>
          <p:nvPr/>
        </p:nvSpPr>
        <p:spPr>
          <a:xfrm>
            <a:off x="777240" y="5166360"/>
            <a:ext cx="594360" cy="594360"/>
          </a:xfrm>
          <a:prstGeom prst="ellipse">
            <a:avLst/>
          </a:prstGeom>
          <a:solidFill>
            <a:schemeClr val="accent1"/>
          </a:solidFill>
          <a:ln w="6350">
            <a:solidFill>
              <a:schemeClr val="accent1"/>
            </a:solidFill>
            <a:prstDash val="solid"/>
          </a:ln>
        </p:spPr>
      </p:sp>
      <p:sp>
        <p:nvSpPr>
          <p:cNvPr id="21" name="Text 18"/>
          <p:cNvSpPr txBox="1"/>
          <p:nvPr/>
        </p:nvSpPr>
        <p:spPr>
          <a:xfrm>
            <a:off x="777240" y="5166360"/>
            <a:ext cx="594360" cy="594360"/>
          </a:xfrm>
          <a:prstGeom prst="rect">
            <a:avLst/>
          </a:prstGeom>
          <a:noFill/>
          <a:ln/>
        </p:spPr>
        <p:txBody>
          <a:bodyPr wrap="square" lIns="0" tIns="0" rIns="0" bIns="0" rtlCol="0" anchor="ctr"/>
          <a:lstStyle/>
          <a:p>
            <a:pPr algn="ctr" indent="0" marL="0">
              <a:buNone/>
            </a:pPr>
            <a:r>
              <a:rPr lang="en-US" sz="2000" b="1" dirty="0">
                <a:solidFill>
                  <a:schemeClr val="bg1"/>
                </a:solidFill>
              </a:rPr>
              <a:t>4</a:t>
            </a:r>
            <a:endParaRPr lang="en-US" sz="2000" dirty="0"/>
          </a:p>
        </p:txBody>
      </p:sp>
      <p:sp>
        <p:nvSpPr>
          <p:cNvPr id="22" name="Text 19"/>
          <p:cNvSpPr txBox="1"/>
          <p:nvPr/>
        </p:nvSpPr>
        <p:spPr>
          <a:xfrm>
            <a:off x="1600200" y="5029200"/>
            <a:ext cx="5577840" cy="411480"/>
          </a:xfrm>
          <a:prstGeom prst="rect">
            <a:avLst/>
          </a:prstGeom>
          <a:noFill/>
          <a:ln/>
        </p:spPr>
        <p:txBody>
          <a:bodyPr wrap="square" lIns="0" tIns="0" rIns="0" bIns="0" rtlCol="0" anchor="t"/>
          <a:lstStyle/>
          <a:p>
            <a:pPr indent="0" marL="0">
              <a:buNone/>
            </a:pPr>
            <a:r>
              <a:rPr lang="en-US" sz="1800" b="1" dirty="0">
                <a:solidFill>
                  <a:schemeClr val="tx2"/>
                </a:solidFill>
              </a:rPr>
              <a:t>예비조사  ·  150명 이상</a:t>
            </a:r>
            <a:endParaRPr lang="en-US" sz="1800" dirty="0"/>
          </a:p>
        </p:txBody>
      </p:sp>
      <p:sp>
        <p:nvSpPr>
          <p:cNvPr id="23" name="Text 20"/>
          <p:cNvSpPr txBox="1"/>
          <p:nvPr/>
        </p:nvSpPr>
        <p:spPr>
          <a:xfrm>
            <a:off x="1600200" y="5440680"/>
            <a:ext cx="5577840" cy="502920"/>
          </a:xfrm>
          <a:prstGeom prst="rect">
            <a:avLst/>
          </a:prstGeom>
          <a:noFill/>
          <a:ln/>
        </p:spPr>
        <p:txBody>
          <a:bodyPr wrap="square" lIns="0" tIns="0" rIns="0" bIns="0" rtlCol="0" anchor="t"/>
          <a:lstStyle/>
          <a:p>
            <a:pPr indent="0" marL="0">
              <a:buNone/>
            </a:pPr>
            <a:r>
              <a:rPr lang="en-US" sz="1300" dirty="0">
                <a:solidFill>
                  <a:schemeClr val="tx1"/>
                </a:solidFill>
              </a:rPr>
              <a:t>차원별 신뢰도, 차원 간 상관 &lt; 0.85, 종합 문항과의 수렴</a:t>
            </a:r>
            <a:endParaRPr lang="en-US" sz="1300" dirty="0"/>
          </a:p>
        </p:txBody>
      </p:sp>
      <p:sp>
        <p:nvSpPr>
          <p:cNvPr id="24" name="reading"/>
          <p:cNvSpPr/>
          <p:nvPr/>
        </p:nvSpPr>
        <p:spPr>
          <a:xfrm>
            <a:off x="7589520" y="1371600"/>
            <a:ext cx="4050792" cy="4663440"/>
          </a:xfrm>
          <a:prstGeom prst="roundRect">
            <a:avLst>
              <a:gd name="adj" fmla="val 2709"/>
            </a:avLst>
          </a:prstGeom>
          <a:solidFill>
            <a:schemeClr val="tx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863840" y="1600200"/>
            <a:ext cx="3566160" cy="457200"/>
          </a:xfrm>
          <a:prstGeom prst="rect">
            <a:avLst/>
          </a:prstGeom>
          <a:noFill/>
          <a:ln/>
        </p:spPr>
        <p:txBody>
          <a:bodyPr wrap="square" lIns="0" tIns="0" rIns="0" bIns="0" rtlCol="0" anchor="t"/>
          <a:lstStyle/>
          <a:p>
            <a:pPr indent="0" marL="0">
              <a:buNone/>
            </a:pPr>
            <a:r>
              <a:rPr lang="en-US" sz="1900" b="1" dirty="0">
                <a:solidFill>
                  <a:schemeClr val="bg1"/>
                </a:solidFill>
              </a:rPr>
              <a:t>결과는 이렇게 읽습니다</a:t>
            </a:r>
            <a:endParaRPr lang="en-US" sz="1900" dirty="0"/>
          </a:p>
        </p:txBody>
      </p:sp>
      <p:sp>
        <p:nvSpPr>
          <p:cNvPr id="26" name="Text 23"/>
          <p:cNvSpPr txBox="1"/>
          <p:nvPr/>
        </p:nvSpPr>
        <p:spPr>
          <a:xfrm>
            <a:off x="7863840" y="2240280"/>
            <a:ext cx="3566160" cy="3566160"/>
          </a:xfrm>
          <a:prstGeom prst="rect">
            <a:avLst/>
          </a:prstGeom>
          <a:noFill/>
          <a:ln/>
        </p:spPr>
        <p:txBody>
          <a:bodyPr wrap="square" lIns="0" tIns="0" rIns="0" bIns="0" rtlCol="0" anchor="t"/>
          <a:lstStyle/>
          <a:p>
            <a:pPr indent="0" marL="0">
              <a:buNone/>
            </a:pPr>
            <a:r>
              <a:rPr lang="en-US" sz="1600" dirty="0">
                <a:solidFill>
                  <a:srgbClr val="CADCFC"/>
                </a:solidFill>
              </a:rPr>
              <a:t>가장 낮은 차원</a:t>
            </a:r>
            <a:endParaRPr lang="en-US" sz="1600" dirty="0"/>
          </a:p>
          <a:p>
            <a:pPr indent="0" marL="0">
              <a:buNone/>
            </a:pPr>
            <a:r>
              <a:rPr lang="en-US" sz="1600" dirty="0">
                <a:solidFill>
                  <a:srgbClr val="CADCFC"/>
                </a:solidFill>
              </a:rPr>
              <a:t>→ 그 연결의 약한 고리</a:t>
            </a:r>
            <a:endParaRPr lang="en-US" sz="1600" dirty="0"/>
          </a:p>
          <a:p>
            <a:pPr indent="0" marL="0">
              <a:buNone/>
            </a:pPr>
            <a:endParaRPr lang="en-US" sz="1600" dirty="0"/>
          </a:p>
          <a:p>
            <a:pPr indent="0" marL="0">
              <a:buNone/>
            </a:pPr>
            <a:r>
              <a:rPr lang="en-US" sz="1600" dirty="0">
                <a:solidFill>
                  <a:srgbClr val="CADCFC"/>
                </a:solidFill>
              </a:rPr>
              <a:t>증빙성 낮음</a:t>
            </a:r>
            <a:endParaRPr lang="en-US" sz="1600" dirty="0"/>
          </a:p>
          <a:p>
            <a:pPr indent="0" marL="0">
              <a:buNone/>
            </a:pPr>
            <a:r>
              <a:rPr lang="en-US" sz="1600" dirty="0">
                <a:solidFill>
                  <a:srgbClr val="CADCFC"/>
                </a:solidFill>
              </a:rPr>
              <a:t>→ 했지만 증거가 안 남는 연결</a:t>
            </a:r>
            <a:endParaRPr lang="en-US" sz="1600" dirty="0"/>
          </a:p>
          <a:p>
            <a:pPr indent="0" marL="0">
              <a:buNone/>
            </a:pPr>
            <a:endParaRPr lang="en-US" sz="1600" dirty="0"/>
          </a:p>
          <a:p>
            <a:pPr indent="0" marL="0">
              <a:buNone/>
            </a:pPr>
            <a:r>
              <a:rPr lang="en-US" sz="1600" dirty="0">
                <a:solidFill>
                  <a:srgbClr val="CADCFC"/>
                </a:solidFill>
              </a:rPr>
              <a:t>환류폐쇄성 낮음</a:t>
            </a:r>
            <a:endParaRPr lang="en-US" sz="1600" dirty="0"/>
          </a:p>
          <a:p>
            <a:pPr indent="0" marL="0">
              <a:buNone/>
            </a:pPr>
            <a:r>
              <a:rPr lang="en-US" sz="1600" dirty="0">
                <a:solidFill>
                  <a:srgbClr val="CADCFC"/>
                </a:solidFill>
              </a:rPr>
              <a:t>→ 문제는 나오나 끝까지 안 고침</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엑셀 20개 시트 지도</a:t>
            </a:r>
            <a:endParaRPr lang="en-US" sz="3200" dirty="0"/>
          </a:p>
        </p:txBody>
      </p:sp>
      <p:sp>
        <p:nvSpPr>
          <p:cNvPr id="4" name="sheetgrp0"/>
          <p:cNvSpPr/>
          <p:nvPr/>
        </p:nvSpPr>
        <p:spPr>
          <a:xfrm>
            <a:off x="548640" y="1463040"/>
            <a:ext cx="3593592" cy="438912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5" name="dot"/>
          <p:cNvSpPr/>
          <p:nvPr/>
        </p:nvSpPr>
        <p:spPr>
          <a:xfrm>
            <a:off x="868680" y="1737360"/>
            <a:ext cx="502920" cy="502920"/>
          </a:xfrm>
          <a:prstGeom prst="ellipse">
            <a:avLst/>
          </a:prstGeom>
          <a:solidFill>
            <a:schemeClr val="accent2"/>
          </a:solidFill>
          <a:ln w="6350">
            <a:solidFill>
              <a:schemeClr val="accent2"/>
            </a:solidFill>
            <a:prstDash val="solid"/>
          </a:ln>
        </p:spPr>
      </p:sp>
      <p:sp>
        <p:nvSpPr>
          <p:cNvPr id="6" name="Text 3"/>
          <p:cNvSpPr txBox="1"/>
          <p:nvPr/>
        </p:nvSpPr>
        <p:spPr>
          <a:xfrm>
            <a:off x="155448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읽는 시트</a:t>
            </a:r>
            <a:endParaRPr lang="en-US" sz="2200" dirty="0"/>
          </a:p>
        </p:txBody>
      </p:sp>
      <p:sp>
        <p:nvSpPr>
          <p:cNvPr id="7" name="Text 4"/>
          <p:cNvSpPr txBox="1"/>
          <p:nvPr/>
        </p:nvSpPr>
        <p:spPr>
          <a:xfrm>
            <a:off x="155448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공부용 · 12개</a:t>
            </a:r>
            <a:endParaRPr lang="en-US" sz="1300" dirty="0"/>
          </a:p>
        </p:txBody>
      </p:sp>
      <p:sp>
        <p:nvSpPr>
          <p:cNvPr id="8" name="Text 5"/>
          <p:cNvSpPr txBox="1"/>
          <p:nvPr/>
        </p:nvSpPr>
        <p:spPr>
          <a:xfrm>
            <a:off x="868680" y="2743200"/>
            <a:ext cx="3017520" cy="2926080"/>
          </a:xfrm>
          <a:prstGeom prst="rect">
            <a:avLst/>
          </a:prstGeom>
          <a:noFill/>
          <a:ln/>
        </p:spPr>
        <p:txBody>
          <a:bodyPr wrap="square" lIns="0" tIns="0" rIns="0" bIns="0" rtlCol="0" anchor="t"/>
          <a:lstStyle/>
          <a:p>
            <a:pPr indent="0" marL="0">
              <a:buNone/>
            </a:pPr>
            <a:r>
              <a:rPr lang="en-US" sz="1500" dirty="0">
                <a:solidFill>
                  <a:schemeClr val="tx1"/>
                </a:solidFill>
              </a:rPr>
              <a:t>안내 · 정의서 · 품질차원</a:t>
            </a:r>
            <a:endParaRPr lang="en-US" sz="1500" dirty="0"/>
          </a:p>
          <a:p>
            <a:pPr indent="0" marL="0">
              <a:buNone/>
            </a:pPr>
            <a:r>
              <a:rPr lang="en-US" sz="1500" dirty="0">
                <a:solidFill>
                  <a:schemeClr val="tx1"/>
                </a:solidFill>
              </a:rPr>
              <a:t>인용근거 · 연결 · 적용매트릭스</a:t>
            </a:r>
            <a:endParaRPr lang="en-US" sz="1500" dirty="0"/>
          </a:p>
          <a:p>
            <a:pPr indent="0" marL="0">
              <a:buNone/>
            </a:pPr>
            <a:r>
              <a:rPr lang="en-US" sz="1500" dirty="0">
                <a:solidFill>
                  <a:schemeClr val="tx1"/>
                </a:solidFill>
              </a:rPr>
              <a:t>관계동사 · 객체 · 트리플</a:t>
            </a:r>
            <a:endParaRPr lang="en-US" sz="1500" dirty="0"/>
          </a:p>
          <a:p>
            <a:pPr indent="0" marL="0">
              <a:buNone/>
            </a:pPr>
            <a:r>
              <a:rPr lang="en-US" sz="1500" dirty="0">
                <a:solidFill>
                  <a:schemeClr val="tx1"/>
                </a:solidFill>
              </a:rPr>
              <a:t>관계매트릭스 · 온톨로지맵</a:t>
            </a:r>
            <a:endParaRPr lang="en-US" sz="1500" dirty="0"/>
          </a:p>
          <a:p>
            <a:pPr indent="0" marL="0">
              <a:buNone/>
            </a:pPr>
            <a:r>
              <a:rPr lang="en-US" sz="1500" dirty="0">
                <a:solidFill>
                  <a:schemeClr val="tx1"/>
                </a:solidFill>
              </a:rPr>
              <a:t>보류연결(결정 칸)</a:t>
            </a:r>
            <a:endParaRPr lang="en-US" sz="1500" dirty="0"/>
          </a:p>
        </p:txBody>
      </p:sp>
      <p:sp>
        <p:nvSpPr>
          <p:cNvPr id="9" name="sheetgrp1"/>
          <p:cNvSpPr/>
          <p:nvPr/>
        </p:nvSpPr>
        <p:spPr>
          <a:xfrm>
            <a:off x="4297680" y="1463040"/>
            <a:ext cx="3593592" cy="438912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0" name="dot"/>
          <p:cNvSpPr/>
          <p:nvPr/>
        </p:nvSpPr>
        <p:spPr>
          <a:xfrm>
            <a:off x="4617720" y="1737360"/>
            <a:ext cx="502920" cy="502920"/>
          </a:xfrm>
          <a:prstGeom prst="ellipse">
            <a:avLst/>
          </a:prstGeom>
          <a:solidFill>
            <a:schemeClr val="accent1"/>
          </a:solidFill>
          <a:ln w="6350">
            <a:solidFill>
              <a:schemeClr val="accent1"/>
            </a:solidFill>
            <a:prstDash val="solid"/>
          </a:ln>
        </p:spPr>
      </p:sp>
      <p:sp>
        <p:nvSpPr>
          <p:cNvPr id="11" name="Text 8"/>
          <p:cNvSpPr txBox="1"/>
          <p:nvPr/>
        </p:nvSpPr>
        <p:spPr>
          <a:xfrm>
            <a:off x="530352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쓰는 시트</a:t>
            </a:r>
            <a:endParaRPr lang="en-US" sz="2200" dirty="0"/>
          </a:p>
        </p:txBody>
      </p:sp>
      <p:sp>
        <p:nvSpPr>
          <p:cNvPr id="12" name="Text 9"/>
          <p:cNvSpPr txBox="1"/>
          <p:nvPr/>
        </p:nvSpPr>
        <p:spPr>
          <a:xfrm>
            <a:off x="530352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내가 입력 · 4개</a:t>
            </a:r>
            <a:endParaRPr lang="en-US" sz="1300" dirty="0"/>
          </a:p>
        </p:txBody>
      </p:sp>
      <p:sp>
        <p:nvSpPr>
          <p:cNvPr id="13" name="Text 10"/>
          <p:cNvSpPr txBox="1"/>
          <p:nvPr/>
        </p:nvSpPr>
        <p:spPr>
          <a:xfrm>
            <a:off x="4617720" y="2743200"/>
            <a:ext cx="3017520" cy="2926080"/>
          </a:xfrm>
          <a:prstGeom prst="rect">
            <a:avLst/>
          </a:prstGeom>
          <a:noFill/>
          <a:ln/>
        </p:spPr>
        <p:txBody>
          <a:bodyPr wrap="square" lIns="0" tIns="0" rIns="0" bIns="0" rtlCol="0" anchor="t"/>
          <a:lstStyle/>
          <a:p>
            <a:pPr indent="0" marL="0">
              <a:buNone/>
            </a:pPr>
            <a:r>
              <a:rPr lang="en-US" sz="1500" dirty="0">
                <a:solidFill>
                  <a:schemeClr val="tx1"/>
                </a:solidFill>
              </a:rPr>
              <a:t>학술근거 (원문 확인 결과 기입)</a:t>
            </a:r>
            <a:endParaRPr lang="en-US" sz="1500" dirty="0"/>
          </a:p>
          <a:p>
            <a:pPr indent="0" marL="0">
              <a:buNone/>
            </a:pPr>
            <a:r>
              <a:rPr lang="en-US" sz="1500" dirty="0">
                <a:solidFill>
                  <a:schemeClr val="tx1"/>
                </a:solidFill>
              </a:rPr>
              <a:t>문항 (전문가 평가 입력)</a:t>
            </a:r>
            <a:endParaRPr lang="en-US" sz="1500" dirty="0"/>
          </a:p>
          <a:p>
            <a:pPr indent="0" marL="0">
              <a:buNone/>
            </a:pPr>
            <a:r>
              <a:rPr lang="en-US" sz="1500" dirty="0">
                <a:solidFill>
                  <a:schemeClr val="tx1"/>
                </a:solidFill>
              </a:rPr>
              <a:t>보유·응답자정보</a:t>
            </a:r>
            <a:endParaRPr lang="en-US" sz="1500" dirty="0"/>
          </a:p>
          <a:p>
            <a:pPr indent="0" marL="0">
              <a:buNone/>
            </a:pPr>
            <a:r>
              <a:rPr lang="en-US" sz="1500" dirty="0">
                <a:solidFill>
                  <a:schemeClr val="tx1"/>
                </a:solidFill>
              </a:rPr>
              <a:t>응답입력 (노란 칸에 입력)</a:t>
            </a:r>
            <a:endParaRPr lang="en-US" sz="1500" dirty="0"/>
          </a:p>
        </p:txBody>
      </p:sp>
      <p:sp>
        <p:nvSpPr>
          <p:cNvPr id="14" name="sheetgrp2"/>
          <p:cNvSpPr/>
          <p:nvPr/>
        </p:nvSpPr>
        <p:spPr>
          <a:xfrm>
            <a:off x="8046720" y="1463040"/>
            <a:ext cx="3593592" cy="4389120"/>
          </a:xfrm>
          <a:prstGeom prst="roundRect">
            <a:avLst>
              <a:gd name="adj" fmla="val 3053"/>
            </a:avLst>
          </a:prstGeom>
          <a:solidFill>
            <a:schemeClr val="bg2"/>
          </a:solidFill>
          <a:ln w="9525">
            <a:solidFill>
              <a:srgbClr val="E1E6EE"/>
            </a:solidFill>
            <a:prstDash val="solid"/>
          </a:ln>
          <a:effectLst>
            <a:outerShdw sx="100000" sy="100000" kx="0" ky="0" algn="bl" rotWithShape="0" blurRad="76200" dist="25400" dir="5400000">
              <a:srgbClr val="000000">
                <a:alpha val="12000"/>
              </a:srgbClr>
            </a:outerShdw>
          </a:effectLst>
        </p:spPr>
      </p:sp>
      <p:sp>
        <p:nvSpPr>
          <p:cNvPr id="15" name="dot"/>
          <p:cNvSpPr/>
          <p:nvPr/>
        </p:nvSpPr>
        <p:spPr>
          <a:xfrm>
            <a:off x="8366760" y="1737360"/>
            <a:ext cx="502920" cy="502920"/>
          </a:xfrm>
          <a:prstGeom prst="ellipse">
            <a:avLst/>
          </a:prstGeom>
          <a:solidFill>
            <a:schemeClr val="accent3"/>
          </a:solidFill>
          <a:ln w="6350">
            <a:solidFill>
              <a:schemeClr val="accent3"/>
            </a:solidFill>
            <a:prstDash val="solid"/>
          </a:ln>
        </p:spPr>
      </p:sp>
      <p:sp>
        <p:nvSpPr>
          <p:cNvPr id="16" name="Text 13"/>
          <p:cNvSpPr txBox="1"/>
          <p:nvPr/>
        </p:nvSpPr>
        <p:spPr>
          <a:xfrm>
            <a:off x="9052560" y="1691640"/>
            <a:ext cx="2468880" cy="365760"/>
          </a:xfrm>
          <a:prstGeom prst="rect">
            <a:avLst/>
          </a:prstGeom>
          <a:noFill/>
          <a:ln/>
        </p:spPr>
        <p:txBody>
          <a:bodyPr wrap="square" lIns="0" tIns="0" rIns="0" bIns="0" rtlCol="0" anchor="t"/>
          <a:lstStyle/>
          <a:p>
            <a:pPr indent="0" marL="0">
              <a:buNone/>
            </a:pPr>
            <a:r>
              <a:rPr lang="en-US" sz="2200" b="1" dirty="0">
                <a:solidFill>
                  <a:schemeClr val="tx2"/>
                </a:solidFill>
              </a:rPr>
              <a:t>계산 시트</a:t>
            </a:r>
            <a:endParaRPr lang="en-US" sz="2200" dirty="0"/>
          </a:p>
        </p:txBody>
      </p:sp>
      <p:sp>
        <p:nvSpPr>
          <p:cNvPr id="17" name="Text 14"/>
          <p:cNvSpPr txBox="1"/>
          <p:nvPr/>
        </p:nvSpPr>
        <p:spPr>
          <a:xfrm>
            <a:off x="9052560" y="2057400"/>
            <a:ext cx="2468880" cy="320040"/>
          </a:xfrm>
          <a:prstGeom prst="rect">
            <a:avLst/>
          </a:prstGeom>
          <a:noFill/>
          <a:ln/>
        </p:spPr>
        <p:txBody>
          <a:bodyPr wrap="square" lIns="0" tIns="0" rIns="0" bIns="0" rtlCol="0" anchor="t"/>
          <a:lstStyle/>
          <a:p>
            <a:pPr indent="0" marL="0">
              <a:buNone/>
            </a:pPr>
            <a:r>
              <a:rPr lang="en-US" sz="1300" dirty="0">
                <a:solidFill>
                  <a:schemeClr val="accent6"/>
                </a:solidFill>
              </a:rPr>
              <a:t>자동 계산 · 4개</a:t>
            </a:r>
            <a:endParaRPr lang="en-US" sz="1300" dirty="0"/>
          </a:p>
        </p:txBody>
      </p:sp>
      <p:sp>
        <p:nvSpPr>
          <p:cNvPr id="18" name="Text 15"/>
          <p:cNvSpPr txBox="1"/>
          <p:nvPr/>
        </p:nvSpPr>
        <p:spPr>
          <a:xfrm>
            <a:off x="8366760" y="2743200"/>
            <a:ext cx="3017520" cy="2926080"/>
          </a:xfrm>
          <a:prstGeom prst="rect">
            <a:avLst/>
          </a:prstGeom>
          <a:noFill/>
          <a:ln/>
        </p:spPr>
        <p:txBody>
          <a:bodyPr wrap="square" lIns="0" tIns="0" rIns="0" bIns="0" rtlCol="0" anchor="t"/>
          <a:lstStyle/>
          <a:p>
            <a:pPr indent="0" marL="0">
              <a:buNone/>
            </a:pPr>
            <a:r>
              <a:rPr lang="en-US" sz="1500" dirty="0">
                <a:solidFill>
                  <a:schemeClr val="tx1"/>
                </a:solidFill>
              </a:rPr>
              <a:t>연결점수</a:t>
            </a:r>
            <a:endParaRPr lang="en-US" sz="1500" dirty="0"/>
          </a:p>
          <a:p>
            <a:pPr indent="0" marL="0">
              <a:buNone/>
            </a:pPr>
            <a:r>
              <a:rPr lang="en-US" sz="1500" dirty="0">
                <a:solidFill>
                  <a:schemeClr val="tx1"/>
                </a:solidFill>
              </a:rPr>
              <a:t>차원점수</a:t>
            </a:r>
            <a:endParaRPr lang="en-US" sz="1500" dirty="0"/>
          </a:p>
          <a:p>
            <a:pPr indent="0" marL="0">
              <a:buNone/>
            </a:pPr>
            <a:r>
              <a:rPr lang="en-US" sz="1500" dirty="0">
                <a:solidFill>
                  <a:schemeClr val="tx1"/>
                </a:solidFill>
              </a:rPr>
              <a:t>점수요약</a:t>
            </a:r>
            <a:endParaRPr lang="en-US" sz="1500" dirty="0"/>
          </a:p>
          <a:p>
            <a:pPr indent="0" marL="0">
              <a:buNone/>
            </a:pPr>
            <a:r>
              <a:rPr lang="en-US" sz="1500" dirty="0">
                <a:solidFill>
                  <a:schemeClr val="tx1"/>
                </a:solidFill>
              </a:rPr>
              <a:t>검증 (구조·변별·수렴 점검)</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엑셀 30분 공부법</a:t>
            </a:r>
            <a:endParaRPr lang="en-US" sz="3200" dirty="0"/>
          </a:p>
        </p:txBody>
      </p:sp>
      <p:sp>
        <p:nvSpPr>
          <p:cNvPr id="4" name="route0"/>
          <p:cNvSpPr/>
          <p:nvPr/>
        </p:nvSpPr>
        <p:spPr>
          <a:xfrm>
            <a:off x="548640" y="1371600"/>
            <a:ext cx="11091672" cy="822960"/>
          </a:xfrm>
          <a:prstGeom prst="roundRect">
            <a:avLst>
              <a:gd name="adj" fmla="val 13333"/>
            </a:avLst>
          </a:prstGeom>
          <a:solidFill>
            <a:schemeClr val="bg2"/>
          </a:solidFill>
          <a:ln w="9525">
            <a:solidFill>
              <a:srgbClr val="E1E6EE"/>
            </a:solidFill>
            <a:prstDash val="solid"/>
          </a:ln>
        </p:spPr>
      </p:sp>
      <p:sp>
        <p:nvSpPr>
          <p:cNvPr id="5" name="badge"/>
          <p:cNvSpPr/>
          <p:nvPr/>
        </p:nvSpPr>
        <p:spPr>
          <a:xfrm>
            <a:off x="777240" y="1508760"/>
            <a:ext cx="548640" cy="548640"/>
          </a:xfrm>
          <a:prstGeom prst="ellipse">
            <a:avLst/>
          </a:prstGeom>
          <a:solidFill>
            <a:schemeClr val="accent1"/>
          </a:solidFill>
          <a:ln w="6350">
            <a:solidFill>
              <a:schemeClr val="accent1"/>
            </a:solidFill>
            <a:prstDash val="solid"/>
          </a:ln>
        </p:spPr>
      </p:sp>
      <p:sp>
        <p:nvSpPr>
          <p:cNvPr id="6" name="Text 3"/>
          <p:cNvSpPr txBox="1"/>
          <p:nvPr/>
        </p:nvSpPr>
        <p:spPr>
          <a:xfrm>
            <a:off x="777240" y="15087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ext 4"/>
          <p:cNvSpPr txBox="1"/>
          <p:nvPr/>
        </p:nvSpPr>
        <p:spPr>
          <a:xfrm>
            <a:off x="1645920" y="1371600"/>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안내</a:t>
            </a:r>
            <a:endParaRPr lang="en-US" sz="1800" dirty="0"/>
          </a:p>
        </p:txBody>
      </p:sp>
      <p:sp>
        <p:nvSpPr>
          <p:cNvPr id="8" name="chip"/>
          <p:cNvSpPr/>
          <p:nvPr/>
        </p:nvSpPr>
        <p:spPr>
          <a:xfrm>
            <a:off x="4389120" y="1627632"/>
            <a:ext cx="822960" cy="310896"/>
          </a:xfrm>
          <a:prstGeom prst="roundRect">
            <a:avLst>
              <a:gd name="adj" fmla="val 50000"/>
            </a:avLst>
          </a:prstGeom>
          <a:solidFill>
            <a:srgbClr val="F26B38"/>
          </a:solidFill>
          <a:ln w="6350">
            <a:solidFill>
              <a:srgbClr val="F26B38"/>
            </a:solidFill>
            <a:prstDash val="solid"/>
          </a:ln>
        </p:spPr>
      </p:sp>
      <p:sp>
        <p:nvSpPr>
          <p:cNvPr id="9" name="Text 6"/>
          <p:cNvSpPr txBox="1"/>
          <p:nvPr/>
        </p:nvSpPr>
        <p:spPr>
          <a:xfrm>
            <a:off x="4389120" y="1627632"/>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3분</a:t>
            </a:r>
            <a:endParaRPr lang="en-US" sz="1200" dirty="0"/>
          </a:p>
        </p:txBody>
      </p:sp>
      <p:sp>
        <p:nvSpPr>
          <p:cNvPr id="10" name="Text 7"/>
          <p:cNvSpPr txBox="1"/>
          <p:nvPr/>
        </p:nvSpPr>
        <p:spPr>
          <a:xfrm>
            <a:off x="5486400" y="1371600"/>
            <a:ext cx="5943600" cy="822960"/>
          </a:xfrm>
          <a:prstGeom prst="rect">
            <a:avLst/>
          </a:prstGeom>
          <a:noFill/>
          <a:ln/>
        </p:spPr>
        <p:txBody>
          <a:bodyPr wrap="square" lIns="0" tIns="0" rIns="0" bIns="0" rtlCol="0" anchor="ctr"/>
          <a:lstStyle/>
          <a:p>
            <a:pPr indent="0" marL="0">
              <a:buNone/>
            </a:pPr>
            <a:r>
              <a:rPr lang="en-US" sz="1500" dirty="0">
                <a:solidFill>
                  <a:schemeClr val="tx1"/>
                </a:solidFill>
              </a:rPr>
              <a:t>"파랑 = 인용, 빨강 = 연구자 의견" 규칙만 확인</a:t>
            </a:r>
            <a:endParaRPr lang="en-US" sz="1500" dirty="0"/>
          </a:p>
        </p:txBody>
      </p:sp>
      <p:sp>
        <p:nvSpPr>
          <p:cNvPr id="11" name="route1"/>
          <p:cNvSpPr/>
          <p:nvPr/>
        </p:nvSpPr>
        <p:spPr>
          <a:xfrm>
            <a:off x="548640" y="2313432"/>
            <a:ext cx="11091672" cy="822960"/>
          </a:xfrm>
          <a:prstGeom prst="roundRect">
            <a:avLst>
              <a:gd name="adj" fmla="val 13333"/>
            </a:avLst>
          </a:prstGeom>
          <a:solidFill>
            <a:schemeClr val="bg2"/>
          </a:solidFill>
          <a:ln w="9525">
            <a:solidFill>
              <a:srgbClr val="E1E6EE"/>
            </a:solidFill>
            <a:prstDash val="solid"/>
          </a:ln>
        </p:spPr>
      </p:sp>
      <p:sp>
        <p:nvSpPr>
          <p:cNvPr id="12" name="badge"/>
          <p:cNvSpPr/>
          <p:nvPr/>
        </p:nvSpPr>
        <p:spPr>
          <a:xfrm>
            <a:off x="777240" y="2450592"/>
            <a:ext cx="548640" cy="548640"/>
          </a:xfrm>
          <a:prstGeom prst="ellipse">
            <a:avLst/>
          </a:prstGeom>
          <a:solidFill>
            <a:schemeClr val="accent1"/>
          </a:solidFill>
          <a:ln w="6350">
            <a:solidFill>
              <a:schemeClr val="accent1"/>
            </a:solidFill>
            <a:prstDash val="solid"/>
          </a:ln>
        </p:spPr>
      </p:sp>
      <p:sp>
        <p:nvSpPr>
          <p:cNvPr id="13" name="Text 10"/>
          <p:cNvSpPr txBox="1"/>
          <p:nvPr/>
        </p:nvSpPr>
        <p:spPr>
          <a:xfrm>
            <a:off x="777240" y="2450592"/>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4" name="Text 11"/>
          <p:cNvSpPr txBox="1"/>
          <p:nvPr/>
        </p:nvSpPr>
        <p:spPr>
          <a:xfrm>
            <a:off x="1645920" y="2313432"/>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품질차원</a:t>
            </a:r>
            <a:endParaRPr lang="en-US" sz="1800" dirty="0"/>
          </a:p>
        </p:txBody>
      </p:sp>
      <p:sp>
        <p:nvSpPr>
          <p:cNvPr id="15" name="chip"/>
          <p:cNvSpPr/>
          <p:nvPr/>
        </p:nvSpPr>
        <p:spPr>
          <a:xfrm>
            <a:off x="4389120" y="2569464"/>
            <a:ext cx="822960" cy="310896"/>
          </a:xfrm>
          <a:prstGeom prst="roundRect">
            <a:avLst>
              <a:gd name="adj" fmla="val 50000"/>
            </a:avLst>
          </a:prstGeom>
          <a:solidFill>
            <a:srgbClr val="F26B38"/>
          </a:solidFill>
          <a:ln w="6350">
            <a:solidFill>
              <a:srgbClr val="F26B38"/>
            </a:solidFill>
            <a:prstDash val="solid"/>
          </a:ln>
        </p:spPr>
      </p:sp>
      <p:sp>
        <p:nvSpPr>
          <p:cNvPr id="16" name="Text 13"/>
          <p:cNvSpPr txBox="1"/>
          <p:nvPr/>
        </p:nvSpPr>
        <p:spPr>
          <a:xfrm>
            <a:off x="4389120" y="2569464"/>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8분</a:t>
            </a:r>
            <a:endParaRPr lang="en-US" sz="1200" dirty="0"/>
          </a:p>
        </p:txBody>
      </p:sp>
      <p:sp>
        <p:nvSpPr>
          <p:cNvPr id="17" name="Text 14"/>
          <p:cNvSpPr txBox="1"/>
          <p:nvPr/>
        </p:nvSpPr>
        <p:spPr>
          <a:xfrm>
            <a:off x="5486400" y="2313432"/>
            <a:ext cx="5943600" cy="822960"/>
          </a:xfrm>
          <a:prstGeom prst="rect">
            <a:avLst/>
          </a:prstGeom>
          <a:noFill/>
          <a:ln/>
        </p:spPr>
        <p:txBody>
          <a:bodyPr wrap="square" lIns="0" tIns="0" rIns="0" bIns="0" rtlCol="0" anchor="ctr"/>
          <a:lstStyle/>
          <a:p>
            <a:pPr indent="0" marL="0">
              <a:buNone/>
            </a:pPr>
            <a:r>
              <a:rPr lang="en-US" sz="1500" dirty="0">
                <a:solidFill>
                  <a:schemeClr val="tx1"/>
                </a:solidFill>
              </a:rPr>
              <a:t>6개 차원의 T1 근거 강도와 겹침 우려 읽기</a:t>
            </a:r>
            <a:endParaRPr lang="en-US" sz="1500" dirty="0"/>
          </a:p>
        </p:txBody>
      </p:sp>
      <p:sp>
        <p:nvSpPr>
          <p:cNvPr id="18" name="route2"/>
          <p:cNvSpPr/>
          <p:nvPr/>
        </p:nvSpPr>
        <p:spPr>
          <a:xfrm>
            <a:off x="548640" y="3255264"/>
            <a:ext cx="11091672" cy="822960"/>
          </a:xfrm>
          <a:prstGeom prst="roundRect">
            <a:avLst>
              <a:gd name="adj" fmla="val 13333"/>
            </a:avLst>
          </a:prstGeom>
          <a:solidFill>
            <a:schemeClr val="bg2"/>
          </a:solidFill>
          <a:ln w="9525">
            <a:solidFill>
              <a:srgbClr val="E1E6EE"/>
            </a:solidFill>
            <a:prstDash val="solid"/>
          </a:ln>
        </p:spPr>
      </p:sp>
      <p:sp>
        <p:nvSpPr>
          <p:cNvPr id="19" name="badge"/>
          <p:cNvSpPr/>
          <p:nvPr/>
        </p:nvSpPr>
        <p:spPr>
          <a:xfrm>
            <a:off x="777240" y="3392424"/>
            <a:ext cx="548640" cy="548640"/>
          </a:xfrm>
          <a:prstGeom prst="ellipse">
            <a:avLst/>
          </a:prstGeom>
          <a:solidFill>
            <a:schemeClr val="accent1"/>
          </a:solidFill>
          <a:ln w="6350">
            <a:solidFill>
              <a:schemeClr val="accent1"/>
            </a:solidFill>
            <a:prstDash val="solid"/>
          </a:ln>
        </p:spPr>
      </p:sp>
      <p:sp>
        <p:nvSpPr>
          <p:cNvPr id="20" name="Text 17"/>
          <p:cNvSpPr txBox="1"/>
          <p:nvPr/>
        </p:nvSpPr>
        <p:spPr>
          <a:xfrm>
            <a:off x="777240" y="3392424"/>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1" name="Text 18"/>
          <p:cNvSpPr txBox="1"/>
          <p:nvPr/>
        </p:nvSpPr>
        <p:spPr>
          <a:xfrm>
            <a:off x="1645920" y="3255264"/>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학술근거</a:t>
            </a:r>
            <a:endParaRPr lang="en-US" sz="1800" dirty="0"/>
          </a:p>
        </p:txBody>
      </p:sp>
      <p:sp>
        <p:nvSpPr>
          <p:cNvPr id="22" name="chip"/>
          <p:cNvSpPr/>
          <p:nvPr/>
        </p:nvSpPr>
        <p:spPr>
          <a:xfrm>
            <a:off x="4389120" y="3511296"/>
            <a:ext cx="822960" cy="310896"/>
          </a:xfrm>
          <a:prstGeom prst="roundRect">
            <a:avLst>
              <a:gd name="adj" fmla="val 50000"/>
            </a:avLst>
          </a:prstGeom>
          <a:solidFill>
            <a:srgbClr val="F26B38"/>
          </a:solidFill>
          <a:ln w="6350">
            <a:solidFill>
              <a:srgbClr val="F26B38"/>
            </a:solidFill>
            <a:prstDash val="solid"/>
          </a:ln>
        </p:spPr>
      </p:sp>
      <p:sp>
        <p:nvSpPr>
          <p:cNvPr id="23" name="Text 20"/>
          <p:cNvSpPr txBox="1"/>
          <p:nvPr/>
        </p:nvSpPr>
        <p:spPr>
          <a:xfrm>
            <a:off x="4389120" y="3511296"/>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5분</a:t>
            </a:r>
            <a:endParaRPr lang="en-US" sz="1200" dirty="0"/>
          </a:p>
        </p:txBody>
      </p:sp>
      <p:sp>
        <p:nvSpPr>
          <p:cNvPr id="24" name="Text 21"/>
          <p:cNvSpPr txBox="1"/>
          <p:nvPr/>
        </p:nvSpPr>
        <p:spPr>
          <a:xfrm>
            <a:off x="5486400" y="3255264"/>
            <a:ext cx="5943600" cy="822960"/>
          </a:xfrm>
          <a:prstGeom prst="rect">
            <a:avLst/>
          </a:prstGeom>
          <a:noFill/>
          <a:ln/>
        </p:spPr>
        <p:txBody>
          <a:bodyPr wrap="square" lIns="0" tIns="0" rIns="0" bIns="0" rtlCol="0" anchor="ctr"/>
          <a:lstStyle/>
          <a:p>
            <a:pPr indent="0" marL="0">
              <a:buNone/>
            </a:pPr>
            <a:r>
              <a:rPr lang="en-US" sz="1500" dirty="0">
                <a:solidFill>
                  <a:schemeClr val="tx1"/>
                </a:solidFill>
              </a:rPr>
              <a:t>12건 중 원문 확인이 필요한 항목 파악</a:t>
            </a:r>
            <a:endParaRPr lang="en-US" sz="1500" dirty="0"/>
          </a:p>
        </p:txBody>
      </p:sp>
      <p:sp>
        <p:nvSpPr>
          <p:cNvPr id="25" name="route3"/>
          <p:cNvSpPr/>
          <p:nvPr/>
        </p:nvSpPr>
        <p:spPr>
          <a:xfrm>
            <a:off x="548640" y="4197096"/>
            <a:ext cx="11091672" cy="822960"/>
          </a:xfrm>
          <a:prstGeom prst="roundRect">
            <a:avLst>
              <a:gd name="adj" fmla="val 13333"/>
            </a:avLst>
          </a:prstGeom>
          <a:solidFill>
            <a:schemeClr val="bg2"/>
          </a:solidFill>
          <a:ln w="9525">
            <a:solidFill>
              <a:srgbClr val="E1E6EE"/>
            </a:solidFill>
            <a:prstDash val="solid"/>
          </a:ln>
        </p:spPr>
      </p:sp>
      <p:sp>
        <p:nvSpPr>
          <p:cNvPr id="26" name="badge"/>
          <p:cNvSpPr/>
          <p:nvPr/>
        </p:nvSpPr>
        <p:spPr>
          <a:xfrm>
            <a:off x="777240" y="4334256"/>
            <a:ext cx="548640" cy="548640"/>
          </a:xfrm>
          <a:prstGeom prst="ellipse">
            <a:avLst/>
          </a:prstGeom>
          <a:solidFill>
            <a:schemeClr val="accent1"/>
          </a:solidFill>
          <a:ln w="6350">
            <a:solidFill>
              <a:schemeClr val="accent1"/>
            </a:solidFill>
            <a:prstDash val="solid"/>
          </a:ln>
        </p:spPr>
      </p:sp>
      <p:sp>
        <p:nvSpPr>
          <p:cNvPr id="27" name="Text 24"/>
          <p:cNvSpPr txBox="1"/>
          <p:nvPr/>
        </p:nvSpPr>
        <p:spPr>
          <a:xfrm>
            <a:off x="777240" y="4334256"/>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8" name="Text 25"/>
          <p:cNvSpPr txBox="1"/>
          <p:nvPr/>
        </p:nvSpPr>
        <p:spPr>
          <a:xfrm>
            <a:off x="1645920" y="4197096"/>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연결 (L01 한 행)</a:t>
            </a:r>
            <a:endParaRPr lang="en-US" sz="1800" dirty="0"/>
          </a:p>
        </p:txBody>
      </p:sp>
      <p:sp>
        <p:nvSpPr>
          <p:cNvPr id="29" name="chip"/>
          <p:cNvSpPr/>
          <p:nvPr/>
        </p:nvSpPr>
        <p:spPr>
          <a:xfrm>
            <a:off x="4389120" y="4453128"/>
            <a:ext cx="822960" cy="310896"/>
          </a:xfrm>
          <a:prstGeom prst="roundRect">
            <a:avLst>
              <a:gd name="adj" fmla="val 50000"/>
            </a:avLst>
          </a:prstGeom>
          <a:solidFill>
            <a:srgbClr val="F26B38"/>
          </a:solidFill>
          <a:ln w="6350">
            <a:solidFill>
              <a:srgbClr val="F26B38"/>
            </a:solidFill>
            <a:prstDash val="solid"/>
          </a:ln>
        </p:spPr>
      </p:sp>
      <p:sp>
        <p:nvSpPr>
          <p:cNvPr id="30" name="Text 27"/>
          <p:cNvSpPr txBox="1"/>
          <p:nvPr/>
        </p:nvSpPr>
        <p:spPr>
          <a:xfrm>
            <a:off x="4389120" y="4453128"/>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8분</a:t>
            </a:r>
            <a:endParaRPr lang="en-US" sz="1200" dirty="0"/>
          </a:p>
        </p:txBody>
      </p:sp>
      <p:sp>
        <p:nvSpPr>
          <p:cNvPr id="31" name="Text 28"/>
          <p:cNvSpPr txBox="1"/>
          <p:nvPr/>
        </p:nvSpPr>
        <p:spPr>
          <a:xfrm>
            <a:off x="5486400" y="4197096"/>
            <a:ext cx="5943600" cy="822960"/>
          </a:xfrm>
          <a:prstGeom prst="rect">
            <a:avLst/>
          </a:prstGeom>
          <a:noFill/>
          <a:ln/>
        </p:spPr>
        <p:txBody>
          <a:bodyPr wrap="square" lIns="0" tIns="0" rIns="0" bIns="0" rtlCol="0" anchor="ctr"/>
          <a:lstStyle/>
          <a:p>
            <a:pPr indent="0" marL="0">
              <a:buNone/>
            </a:pPr>
            <a:r>
              <a:rPr lang="en-US" sz="1500" dirty="0">
                <a:solidFill>
                  <a:schemeClr val="tx1"/>
                </a:solidFill>
              </a:rPr>
              <a:t>주 인용 → 확립하는 사실 → 연구자 의견 순서</a:t>
            </a:r>
            <a:endParaRPr lang="en-US" sz="1500" dirty="0"/>
          </a:p>
        </p:txBody>
      </p:sp>
      <p:sp>
        <p:nvSpPr>
          <p:cNvPr id="32" name="route4"/>
          <p:cNvSpPr/>
          <p:nvPr/>
        </p:nvSpPr>
        <p:spPr>
          <a:xfrm>
            <a:off x="548640" y="5138928"/>
            <a:ext cx="11091672" cy="822960"/>
          </a:xfrm>
          <a:prstGeom prst="roundRect">
            <a:avLst>
              <a:gd name="adj" fmla="val 13333"/>
            </a:avLst>
          </a:prstGeom>
          <a:solidFill>
            <a:schemeClr val="bg2"/>
          </a:solidFill>
          <a:ln w="9525">
            <a:solidFill>
              <a:srgbClr val="E1E6EE"/>
            </a:solidFill>
            <a:prstDash val="solid"/>
          </a:ln>
        </p:spPr>
      </p:sp>
      <p:sp>
        <p:nvSpPr>
          <p:cNvPr id="33" name="badge"/>
          <p:cNvSpPr/>
          <p:nvPr/>
        </p:nvSpPr>
        <p:spPr>
          <a:xfrm>
            <a:off x="777240" y="5276088"/>
            <a:ext cx="548640" cy="548640"/>
          </a:xfrm>
          <a:prstGeom prst="ellipse">
            <a:avLst/>
          </a:prstGeom>
          <a:solidFill>
            <a:schemeClr val="accent1"/>
          </a:solidFill>
          <a:ln w="6350">
            <a:solidFill>
              <a:schemeClr val="accent1"/>
            </a:solidFill>
            <a:prstDash val="solid"/>
          </a:ln>
        </p:spPr>
      </p:sp>
      <p:sp>
        <p:nvSpPr>
          <p:cNvPr id="34" name="Text 31"/>
          <p:cNvSpPr txBox="1"/>
          <p:nvPr/>
        </p:nvSpPr>
        <p:spPr>
          <a:xfrm>
            <a:off x="777240" y="5276088"/>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35" name="Text 32"/>
          <p:cNvSpPr txBox="1"/>
          <p:nvPr/>
        </p:nvSpPr>
        <p:spPr>
          <a:xfrm>
            <a:off x="1645920" y="5138928"/>
            <a:ext cx="2743200" cy="822960"/>
          </a:xfrm>
          <a:prstGeom prst="rect">
            <a:avLst/>
          </a:prstGeom>
          <a:noFill/>
          <a:ln/>
        </p:spPr>
        <p:txBody>
          <a:bodyPr wrap="square" lIns="0" tIns="0" rIns="0" bIns="0" rtlCol="0" anchor="ctr"/>
          <a:lstStyle/>
          <a:p>
            <a:pPr indent="0" marL="0">
              <a:buNone/>
            </a:pPr>
            <a:r>
              <a:rPr lang="en-US" sz="1800" b="1" dirty="0">
                <a:solidFill>
                  <a:schemeClr val="tx2"/>
                </a:solidFill>
              </a:rPr>
              <a:t>문항 + 점수요약</a:t>
            </a:r>
            <a:endParaRPr lang="en-US" sz="1800" dirty="0"/>
          </a:p>
        </p:txBody>
      </p:sp>
      <p:sp>
        <p:nvSpPr>
          <p:cNvPr id="36" name="chip"/>
          <p:cNvSpPr/>
          <p:nvPr/>
        </p:nvSpPr>
        <p:spPr>
          <a:xfrm>
            <a:off x="4389120" y="5394960"/>
            <a:ext cx="822960" cy="310896"/>
          </a:xfrm>
          <a:prstGeom prst="roundRect">
            <a:avLst>
              <a:gd name="adj" fmla="val 50000"/>
            </a:avLst>
          </a:prstGeom>
          <a:solidFill>
            <a:srgbClr val="F26B38"/>
          </a:solidFill>
          <a:ln w="6350">
            <a:solidFill>
              <a:srgbClr val="F26B38"/>
            </a:solidFill>
            <a:prstDash val="solid"/>
          </a:ln>
        </p:spPr>
      </p:sp>
      <p:sp>
        <p:nvSpPr>
          <p:cNvPr id="37" name="Text 34"/>
          <p:cNvSpPr txBox="1"/>
          <p:nvPr/>
        </p:nvSpPr>
        <p:spPr>
          <a:xfrm>
            <a:off x="4389120" y="5394960"/>
            <a:ext cx="822960" cy="310896"/>
          </a:xfrm>
          <a:prstGeom prst="rect">
            <a:avLst/>
          </a:prstGeom>
          <a:noFill/>
          <a:ln/>
        </p:spPr>
        <p:txBody>
          <a:bodyPr wrap="square" lIns="0" tIns="0" rIns="0" bIns="0" rtlCol="0" anchor="ctr"/>
          <a:lstStyle/>
          <a:p>
            <a:pPr algn="ctr" indent="0" marL="0">
              <a:buNone/>
            </a:pPr>
            <a:r>
              <a:rPr lang="en-US" sz="1200" b="1" dirty="0">
                <a:solidFill>
                  <a:schemeClr val="bg1"/>
                </a:solidFill>
              </a:rPr>
              <a:t>6분</a:t>
            </a:r>
            <a:endParaRPr lang="en-US" sz="1200" dirty="0"/>
          </a:p>
        </p:txBody>
      </p:sp>
      <p:sp>
        <p:nvSpPr>
          <p:cNvPr id="38" name="Text 35"/>
          <p:cNvSpPr txBox="1"/>
          <p:nvPr/>
        </p:nvSpPr>
        <p:spPr>
          <a:xfrm>
            <a:off x="5486400" y="5138928"/>
            <a:ext cx="5943600" cy="822960"/>
          </a:xfrm>
          <a:prstGeom prst="rect">
            <a:avLst/>
          </a:prstGeom>
          <a:noFill/>
          <a:ln/>
        </p:spPr>
        <p:txBody>
          <a:bodyPr wrap="square" lIns="0" tIns="0" rIns="0" bIns="0" rtlCol="0" anchor="ctr"/>
          <a:lstStyle/>
          <a:p>
            <a:pPr indent="0" marL="0">
              <a:buNone/>
            </a:pPr>
            <a:r>
              <a:rPr lang="en-US" sz="1500" dirty="0">
                <a:solidFill>
                  <a:schemeClr val="tx1"/>
                </a:solidFill>
              </a:rPr>
              <a:t>L01 문항 5개를 읽고 점수요약의 같은 행 찾기</a:t>
            </a:r>
            <a:endParaRPr lang="en-US" sz="1500" dirty="0"/>
          </a:p>
        </p:txBody>
      </p:sp>
      <p:sp>
        <p:nvSpPr>
          <p:cNvPr id="39" name="Text 36"/>
          <p:cNvSpPr txBox="1"/>
          <p:nvPr/>
        </p:nvSpPr>
        <p:spPr>
          <a:xfrm>
            <a:off x="548640" y="6080760"/>
            <a:ext cx="11091672" cy="320040"/>
          </a:xfrm>
          <a:prstGeom prst="rect">
            <a:avLst/>
          </a:prstGeom>
          <a:noFill/>
          <a:ln/>
        </p:spPr>
        <p:txBody>
          <a:bodyPr wrap="square" lIns="0" tIns="0" rIns="0" bIns="0" rtlCol="0" anchor="t"/>
          <a:lstStyle/>
          <a:p>
            <a:pPr indent="0" marL="0">
              <a:buNone/>
            </a:pPr>
            <a:r>
              <a:rPr lang="en-US" sz="1300" dirty="0">
                <a:solidFill>
                  <a:schemeClr val="accent6"/>
                </a:solidFill>
              </a:rPr>
              <a:t>팁: 연결 시트에서 "증거유형" 열을 필터로 E1만 보면 확실한 연결부터 익힐 수 있습니다.</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868680"/>
          </a:xfrm>
          <a:prstGeom prst="rect">
            <a:avLst/>
          </a:prstGeom>
          <a:noFill/>
          <a:ln/>
        </p:spPr>
        <p:txBody>
          <a:bodyPr wrap="square" lIns="0" tIns="0" rIns="0" bIns="0" rtlCol="0" anchor="ctr"/>
          <a:lstStyle/>
          <a:p>
            <a:pPr algn="l" indent="0" marL="0">
              <a:buNone/>
            </a:pPr>
            <a:r>
              <a:rPr lang="en-US" sz="3200" b="1" dirty="0">
                <a:solidFill>
                  <a:schemeClr val="tx2"/>
                </a:solidFill>
              </a:rPr>
              <a:t>연구자께서 정할 일</a:t>
            </a:r>
            <a:endParaRPr lang="en-US" sz="3200" dirty="0"/>
          </a:p>
        </p:txBody>
      </p:sp>
      <p:sp>
        <p:nvSpPr>
          <p:cNvPr id="4" name="dec0"/>
          <p:cNvSpPr/>
          <p:nvPr/>
        </p:nvSpPr>
        <p:spPr>
          <a:xfrm>
            <a:off x="548640" y="1371600"/>
            <a:ext cx="11091672" cy="841248"/>
          </a:xfrm>
          <a:prstGeom prst="roundRect">
            <a:avLst>
              <a:gd name="adj" fmla="val 13043"/>
            </a:avLst>
          </a:prstGeom>
          <a:solidFill>
            <a:schemeClr val="bg2"/>
          </a:solidFill>
          <a:ln w="9525">
            <a:solidFill>
              <a:srgbClr val="E1E6EE"/>
            </a:solidFill>
            <a:prstDash val="solid"/>
          </a:ln>
        </p:spPr>
      </p:sp>
      <p:sp>
        <p:nvSpPr>
          <p:cNvPr id="5" name="checkbox"/>
          <p:cNvSpPr/>
          <p:nvPr/>
        </p:nvSpPr>
        <p:spPr>
          <a:xfrm>
            <a:off x="822960" y="1618488"/>
            <a:ext cx="347472" cy="347472"/>
          </a:xfrm>
          <a:prstGeom prst="rect">
            <a:avLst/>
          </a:prstGeom>
          <a:solidFill>
            <a:schemeClr val="bg1"/>
          </a:solidFill>
          <a:ln w="25400">
            <a:solidFill>
              <a:schemeClr val="accent1"/>
            </a:solidFill>
            <a:prstDash val="solid"/>
          </a:ln>
        </p:spPr>
      </p:sp>
      <p:sp>
        <p:nvSpPr>
          <p:cNvPr id="6" name="Text 3"/>
          <p:cNvSpPr txBox="1"/>
          <p:nvPr/>
        </p:nvSpPr>
        <p:spPr>
          <a:xfrm>
            <a:off x="1463040" y="1444752"/>
            <a:ext cx="9902952" cy="411480"/>
          </a:xfrm>
          <a:prstGeom prst="rect">
            <a:avLst/>
          </a:prstGeom>
          <a:noFill/>
          <a:ln/>
        </p:spPr>
        <p:txBody>
          <a:bodyPr wrap="square" lIns="0" tIns="0" rIns="0" bIns="0" rtlCol="0" anchor="ctr"/>
          <a:lstStyle/>
          <a:p>
            <a:pPr indent="0" marL="0">
              <a:buNone/>
            </a:pPr>
            <a:r>
              <a:rPr lang="en-US" sz="1600" b="1" dirty="0">
                <a:solidFill>
                  <a:schemeClr val="tx2"/>
                </a:solidFill>
              </a:rPr>
              <a:t>외부 문헌 12건의 원문 확인 (특히 추적성: S01, S02)</a:t>
            </a:r>
            <a:endParaRPr lang="en-US" sz="1600" dirty="0"/>
          </a:p>
        </p:txBody>
      </p:sp>
      <p:sp>
        <p:nvSpPr>
          <p:cNvPr id="7" name="Text 4"/>
          <p:cNvSpPr txBox="1"/>
          <p:nvPr/>
        </p:nvSpPr>
        <p:spPr>
          <a:xfrm>
            <a:off x="1463040" y="182880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학술근거 시트의 "원문 쪽 번호·문장·확인 완료" 칸에 기입</a:t>
            </a:r>
            <a:endParaRPr lang="en-US" sz="1300" dirty="0"/>
          </a:p>
        </p:txBody>
      </p:sp>
      <p:sp>
        <p:nvSpPr>
          <p:cNvPr id="8" name="dec1"/>
          <p:cNvSpPr/>
          <p:nvPr/>
        </p:nvSpPr>
        <p:spPr>
          <a:xfrm>
            <a:off x="548640" y="2331720"/>
            <a:ext cx="11091672" cy="841248"/>
          </a:xfrm>
          <a:prstGeom prst="roundRect">
            <a:avLst>
              <a:gd name="adj" fmla="val 13043"/>
            </a:avLst>
          </a:prstGeom>
          <a:solidFill>
            <a:schemeClr val="bg2"/>
          </a:solidFill>
          <a:ln w="9525">
            <a:solidFill>
              <a:srgbClr val="E1E6EE"/>
            </a:solidFill>
            <a:prstDash val="solid"/>
          </a:ln>
        </p:spPr>
      </p:sp>
      <p:sp>
        <p:nvSpPr>
          <p:cNvPr id="9" name="checkbox"/>
          <p:cNvSpPr/>
          <p:nvPr/>
        </p:nvSpPr>
        <p:spPr>
          <a:xfrm>
            <a:off x="822960" y="2578608"/>
            <a:ext cx="347472" cy="347472"/>
          </a:xfrm>
          <a:prstGeom prst="rect">
            <a:avLst/>
          </a:prstGeom>
          <a:solidFill>
            <a:schemeClr val="bg1"/>
          </a:solidFill>
          <a:ln w="25400">
            <a:solidFill>
              <a:schemeClr val="accent1"/>
            </a:solidFill>
            <a:prstDash val="solid"/>
          </a:ln>
        </p:spPr>
      </p:sp>
      <p:sp>
        <p:nvSpPr>
          <p:cNvPr id="10" name="Text 7"/>
          <p:cNvSpPr txBox="1"/>
          <p:nvPr/>
        </p:nvSpPr>
        <p:spPr>
          <a:xfrm>
            <a:off x="1463040" y="2404872"/>
            <a:ext cx="9902952" cy="411480"/>
          </a:xfrm>
          <a:prstGeom prst="rect">
            <a:avLst/>
          </a:prstGeom>
          <a:noFill/>
          <a:ln/>
        </p:spPr>
        <p:txBody>
          <a:bodyPr wrap="square" lIns="0" tIns="0" rIns="0" bIns="0" rtlCol="0" anchor="ctr"/>
          <a:lstStyle/>
          <a:p>
            <a:pPr indent="0" marL="0">
              <a:buNone/>
            </a:pPr>
            <a:r>
              <a:rPr lang="en-US" sz="1600" b="1" dirty="0">
                <a:solidFill>
                  <a:schemeClr val="tx2"/>
                </a:solidFill>
              </a:rPr>
              <a:t>6개 차원을 그대로 쓸지, 겹치는 차원을 합칠지</a:t>
            </a:r>
            <a:endParaRPr lang="en-US" sz="1600" dirty="0"/>
          </a:p>
        </p:txBody>
      </p:sp>
      <p:sp>
        <p:nvSpPr>
          <p:cNvPr id="11" name="Text 8"/>
          <p:cNvSpPr txBox="1"/>
          <p:nvPr/>
        </p:nvSpPr>
        <p:spPr>
          <a:xfrm>
            <a:off x="1463040" y="278892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정합성·추적성·증빙성의 겹침은 예비조사 후 결정</a:t>
            </a:r>
            <a:endParaRPr lang="en-US" sz="1300" dirty="0"/>
          </a:p>
        </p:txBody>
      </p:sp>
      <p:sp>
        <p:nvSpPr>
          <p:cNvPr id="12" name="dec2"/>
          <p:cNvSpPr/>
          <p:nvPr/>
        </p:nvSpPr>
        <p:spPr>
          <a:xfrm>
            <a:off x="548640" y="3291840"/>
            <a:ext cx="11091672" cy="841248"/>
          </a:xfrm>
          <a:prstGeom prst="roundRect">
            <a:avLst>
              <a:gd name="adj" fmla="val 13043"/>
            </a:avLst>
          </a:prstGeom>
          <a:solidFill>
            <a:schemeClr val="bg2"/>
          </a:solidFill>
          <a:ln w="9525">
            <a:solidFill>
              <a:srgbClr val="E1E6EE"/>
            </a:solidFill>
            <a:prstDash val="solid"/>
          </a:ln>
        </p:spPr>
      </p:sp>
      <p:sp>
        <p:nvSpPr>
          <p:cNvPr id="13" name="checkbox"/>
          <p:cNvSpPr/>
          <p:nvPr/>
        </p:nvSpPr>
        <p:spPr>
          <a:xfrm>
            <a:off x="822960" y="3538728"/>
            <a:ext cx="347472" cy="347472"/>
          </a:xfrm>
          <a:prstGeom prst="rect">
            <a:avLst/>
          </a:prstGeom>
          <a:solidFill>
            <a:schemeClr val="bg1"/>
          </a:solidFill>
          <a:ln w="25400">
            <a:solidFill>
              <a:schemeClr val="accent1"/>
            </a:solidFill>
            <a:prstDash val="solid"/>
          </a:ln>
        </p:spPr>
      </p:sp>
      <p:sp>
        <p:nvSpPr>
          <p:cNvPr id="14" name="Text 11"/>
          <p:cNvSpPr txBox="1"/>
          <p:nvPr/>
        </p:nvSpPr>
        <p:spPr>
          <a:xfrm>
            <a:off x="1463040" y="3364992"/>
            <a:ext cx="9902952" cy="411480"/>
          </a:xfrm>
          <a:prstGeom prst="rect">
            <a:avLst/>
          </a:prstGeom>
          <a:noFill/>
          <a:ln/>
        </p:spPr>
        <p:txBody>
          <a:bodyPr wrap="square" lIns="0" tIns="0" rIns="0" bIns="0" rtlCol="0" anchor="ctr"/>
          <a:lstStyle/>
          <a:p>
            <a:pPr indent="0" marL="0">
              <a:buNone/>
            </a:pPr>
            <a:r>
              <a:rPr lang="en-US" sz="1600" b="1" dirty="0">
                <a:solidFill>
                  <a:schemeClr val="tx2"/>
                </a:solidFill>
              </a:rPr>
              <a:t>가설 연결 5개와 포함 관계 2개(L13, L14), 집단 노드(L27, L30)</a:t>
            </a:r>
            <a:endParaRPr lang="en-US" sz="1600" dirty="0"/>
          </a:p>
        </p:txBody>
      </p:sp>
      <p:sp>
        <p:nvSpPr>
          <p:cNvPr id="15" name="Text 12"/>
          <p:cNvSpPr txBox="1"/>
          <p:nvPr/>
        </p:nvSpPr>
        <p:spPr>
          <a:xfrm>
            <a:off x="1463040" y="374904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E2·E3 연결의 유지 여부</a:t>
            </a:r>
            <a:endParaRPr lang="en-US" sz="1300" dirty="0"/>
          </a:p>
        </p:txBody>
      </p:sp>
      <p:sp>
        <p:nvSpPr>
          <p:cNvPr id="16" name="dec3"/>
          <p:cNvSpPr/>
          <p:nvPr/>
        </p:nvSpPr>
        <p:spPr>
          <a:xfrm>
            <a:off x="548640" y="4251960"/>
            <a:ext cx="11091672" cy="841248"/>
          </a:xfrm>
          <a:prstGeom prst="roundRect">
            <a:avLst>
              <a:gd name="adj" fmla="val 13043"/>
            </a:avLst>
          </a:prstGeom>
          <a:solidFill>
            <a:schemeClr val="bg2"/>
          </a:solidFill>
          <a:ln w="9525">
            <a:solidFill>
              <a:srgbClr val="E1E6EE"/>
            </a:solidFill>
            <a:prstDash val="solid"/>
          </a:ln>
        </p:spPr>
      </p:sp>
      <p:sp>
        <p:nvSpPr>
          <p:cNvPr id="17" name="checkbox"/>
          <p:cNvSpPr/>
          <p:nvPr/>
        </p:nvSpPr>
        <p:spPr>
          <a:xfrm>
            <a:off x="822960" y="4498848"/>
            <a:ext cx="347472" cy="347472"/>
          </a:xfrm>
          <a:prstGeom prst="rect">
            <a:avLst/>
          </a:prstGeom>
          <a:solidFill>
            <a:schemeClr val="bg1"/>
          </a:solidFill>
          <a:ln w="25400">
            <a:solidFill>
              <a:schemeClr val="accent1"/>
            </a:solidFill>
            <a:prstDash val="solid"/>
          </a:ln>
        </p:spPr>
      </p:sp>
      <p:sp>
        <p:nvSpPr>
          <p:cNvPr id="18" name="Text 15"/>
          <p:cNvSpPr txBox="1"/>
          <p:nvPr/>
        </p:nvSpPr>
        <p:spPr>
          <a:xfrm>
            <a:off x="1463040" y="4325112"/>
            <a:ext cx="9902952" cy="411480"/>
          </a:xfrm>
          <a:prstGeom prst="rect">
            <a:avLst/>
          </a:prstGeom>
          <a:noFill/>
          <a:ln/>
        </p:spPr>
        <p:txBody>
          <a:bodyPr wrap="square" lIns="0" tIns="0" rIns="0" bIns="0" rtlCol="0" anchor="ctr"/>
          <a:lstStyle/>
          <a:p>
            <a:pPr indent="0" marL="0">
              <a:buNone/>
            </a:pPr>
            <a:r>
              <a:rPr lang="en-US" sz="1600" b="1" dirty="0">
                <a:solidFill>
                  <a:schemeClr val="tx2"/>
                </a:solidFill>
              </a:rPr>
              <a:t>용어: "연결 품질"과 "연계성(연결성)" 중 무엇으로 통일할지</a:t>
            </a:r>
            <a:endParaRPr lang="en-US" sz="1600" dirty="0"/>
          </a:p>
        </p:txBody>
      </p:sp>
      <p:sp>
        <p:nvSpPr>
          <p:cNvPr id="19" name="Text 16"/>
          <p:cNvSpPr txBox="1"/>
          <p:nvPr/>
        </p:nvSpPr>
        <p:spPr>
          <a:xfrm>
            <a:off x="1463040" y="470916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정의서 D04, D05</a:t>
            </a:r>
            <a:endParaRPr lang="en-US" sz="1300" dirty="0"/>
          </a:p>
        </p:txBody>
      </p:sp>
      <p:sp>
        <p:nvSpPr>
          <p:cNvPr id="20" name="dec4"/>
          <p:cNvSpPr/>
          <p:nvPr/>
        </p:nvSpPr>
        <p:spPr>
          <a:xfrm>
            <a:off x="548640" y="5212080"/>
            <a:ext cx="11091672" cy="841248"/>
          </a:xfrm>
          <a:prstGeom prst="roundRect">
            <a:avLst>
              <a:gd name="adj" fmla="val 13043"/>
            </a:avLst>
          </a:prstGeom>
          <a:solidFill>
            <a:schemeClr val="bg2"/>
          </a:solidFill>
          <a:ln w="9525">
            <a:solidFill>
              <a:srgbClr val="E1E6EE"/>
            </a:solidFill>
            <a:prstDash val="solid"/>
          </a:ln>
        </p:spPr>
      </p:sp>
      <p:sp>
        <p:nvSpPr>
          <p:cNvPr id="21" name="checkbox"/>
          <p:cNvSpPr/>
          <p:nvPr/>
        </p:nvSpPr>
        <p:spPr>
          <a:xfrm>
            <a:off x="822960" y="5458968"/>
            <a:ext cx="347472" cy="347472"/>
          </a:xfrm>
          <a:prstGeom prst="rect">
            <a:avLst/>
          </a:prstGeom>
          <a:solidFill>
            <a:schemeClr val="bg1"/>
          </a:solidFill>
          <a:ln w="25400">
            <a:solidFill>
              <a:schemeClr val="accent1"/>
            </a:solidFill>
            <a:prstDash val="solid"/>
          </a:ln>
        </p:spPr>
      </p:sp>
      <p:sp>
        <p:nvSpPr>
          <p:cNvPr id="22" name="Text 19"/>
          <p:cNvSpPr txBox="1"/>
          <p:nvPr/>
        </p:nvSpPr>
        <p:spPr>
          <a:xfrm>
            <a:off x="1463040" y="5285232"/>
            <a:ext cx="9902952" cy="411480"/>
          </a:xfrm>
          <a:prstGeom prst="rect">
            <a:avLst/>
          </a:prstGeom>
          <a:noFill/>
          <a:ln/>
        </p:spPr>
        <p:txBody>
          <a:bodyPr wrap="square" lIns="0" tIns="0" rIns="0" bIns="0" rtlCol="0" anchor="ctr"/>
          <a:lstStyle/>
          <a:p>
            <a:pPr indent="0" marL="0">
              <a:buNone/>
            </a:pPr>
            <a:r>
              <a:rPr lang="en-US" sz="1600" b="1" dirty="0">
                <a:solidFill>
                  <a:schemeClr val="tx2"/>
                </a:solidFill>
              </a:rPr>
              <a:t>연구자 정의 확정 (정의서의 주황 표시 항목)</a:t>
            </a:r>
            <a:endParaRPr lang="en-US" sz="1600" dirty="0"/>
          </a:p>
        </p:txBody>
      </p:sp>
      <p:sp>
        <p:nvSpPr>
          <p:cNvPr id="23" name="Text 20"/>
          <p:cNvSpPr txBox="1"/>
          <p:nvPr/>
        </p:nvSpPr>
        <p:spPr>
          <a:xfrm>
            <a:off x="1463040" y="5669280"/>
            <a:ext cx="9902952" cy="320040"/>
          </a:xfrm>
          <a:prstGeom prst="rect">
            <a:avLst/>
          </a:prstGeom>
          <a:noFill/>
          <a:ln/>
        </p:spPr>
        <p:txBody>
          <a:bodyPr wrap="square" lIns="0" tIns="0" rIns="0" bIns="0" rtlCol="0" anchor="t"/>
          <a:lstStyle/>
          <a:p>
            <a:pPr indent="0" marL="0">
              <a:buNone/>
            </a:pPr>
            <a:r>
              <a:rPr lang="en-US" sz="1300" dirty="0">
                <a:solidFill>
                  <a:schemeClr val="accent6"/>
                </a:solidFill>
              </a:rPr>
              <a:t>보류 연결 6개의 포함 여부도 함께</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822960" y="822960"/>
            <a:ext cx="10515600" cy="1371600"/>
          </a:xfrm>
          <a:prstGeom prst="rect">
            <a:avLst/>
          </a:prstGeom>
          <a:noFill/>
          <a:ln/>
        </p:spPr>
        <p:txBody>
          <a:bodyPr wrap="square" lIns="0" tIns="0" rIns="0" bIns="0" rtlCol="0" anchor="ctr"/>
          <a:lstStyle/>
          <a:p>
            <a:pPr algn="l" indent="0" marL="0">
              <a:buNone/>
            </a:pPr>
            <a:r>
              <a:rPr lang="en-US" sz="3800" b="1" dirty="0">
                <a:solidFill>
                  <a:schemeClr val="bg1"/>
                </a:solidFill>
              </a:rPr>
              <a:t>연결이 "있는가"가 아니라</a:t>
            </a:r>
            <a:endParaRPr lang="en-US" sz="3800" dirty="0"/>
          </a:p>
          <a:p>
            <a:pPr algn="l" indent="0" marL="0">
              <a:buNone/>
            </a:pPr>
            <a:r>
              <a:rPr lang="en-US" sz="3800" b="1" dirty="0">
                <a:solidFill>
                  <a:schemeClr val="bg1"/>
                </a:solidFill>
              </a:rPr>
              <a:t>"얼마나 잘 작동하는가"를 잽니다</a:t>
            </a:r>
            <a:endParaRPr lang="en-US" sz="3800" dirty="0"/>
          </a:p>
        </p:txBody>
      </p:sp>
      <p:pic>
        <p:nvPicPr>
          <p:cNvPr id="3" name="Image 0" descr="결승선">    </p:cNvPr>
          <p:cNvPicPr>
            <a:picLocks noChangeAspect="1"/>
          </p:cNvPicPr>
          <p:nvPr/>
        </p:nvPicPr>
        <p:blipFill>
          <a:blip r:embed="rId1"/>
          <a:stretch>
            <a:fillRect/>
          </a:stretch>
        </p:blipFill>
        <p:spPr>
          <a:xfrm>
            <a:off x="822960" y="2651760"/>
            <a:ext cx="548640" cy="548640"/>
          </a:xfrm>
          <a:prstGeom prst="rect">
            <a:avLst/>
          </a:prstGeom>
        </p:spPr>
      </p:pic>
      <p:sp>
        <p:nvSpPr>
          <p:cNvPr id="4" name="Text 1"/>
          <p:cNvSpPr txBox="1"/>
          <p:nvPr/>
        </p:nvSpPr>
        <p:spPr>
          <a:xfrm>
            <a:off x="1554480" y="2697480"/>
            <a:ext cx="3657600" cy="457200"/>
          </a:xfrm>
          <a:prstGeom prst="rect">
            <a:avLst/>
          </a:prstGeom>
          <a:noFill/>
          <a:ln/>
        </p:spPr>
        <p:txBody>
          <a:bodyPr wrap="square" lIns="0" tIns="0" rIns="0" bIns="0" rtlCol="0" anchor="t"/>
          <a:lstStyle/>
          <a:p>
            <a:pPr indent="0" marL="0">
              <a:buNone/>
            </a:pPr>
            <a:r>
              <a:rPr lang="en-US" sz="2200" b="1" dirty="0">
                <a:solidFill>
                  <a:schemeClr val="bg1"/>
                </a:solidFill>
              </a:rPr>
              <a:t>다음 단계</a:t>
            </a:r>
            <a:endParaRPr lang="en-US" sz="2200" dirty="0"/>
          </a:p>
        </p:txBody>
      </p:sp>
      <p:sp>
        <p:nvSpPr>
          <p:cNvPr id="5" name="Text 2"/>
          <p:cNvSpPr txBox="1"/>
          <p:nvPr/>
        </p:nvSpPr>
        <p:spPr>
          <a:xfrm>
            <a:off x="1554480" y="3246120"/>
            <a:ext cx="9144000" cy="2286000"/>
          </a:xfrm>
          <a:prstGeom prst="rect">
            <a:avLst/>
          </a:prstGeom>
          <a:noFill/>
          <a:ln/>
        </p:spPr>
        <p:txBody>
          <a:bodyPr wrap="square" lIns="0" tIns="0" rIns="0" bIns="0" rtlCol="0" anchor="t"/>
          <a:lstStyle/>
          <a:p>
            <a:pPr marL="342900" indent="-342900">
              <a:spcAft>
                <a:spcPts val="800"/>
              </a:spcAft>
              <a:buSzPct val="100000"/>
              <a:buFont typeface="+mj-lt"/>
              <a:buAutoNum type="arabicPeriod" startAt="1"/>
            </a:pPr>
            <a:r>
              <a:rPr lang="en-US" sz="2000" dirty="0">
                <a:solidFill>
                  <a:srgbClr val="CADCFC"/>
                </a:solidFill>
              </a:rPr>
              <a:t>외부 문헌 원문 확인 · 연구자 정의 확정</a:t>
            </a:r>
            <a:endParaRPr lang="en-US" sz="2000" dirty="0"/>
          </a:p>
          <a:p>
            <a:pPr marL="342900" indent="-342900">
              <a:spcAft>
                <a:spcPts val="800"/>
              </a:spcAft>
              <a:buSzPct val="100000"/>
              <a:buFont typeface="+mj-lt"/>
              <a:buAutoNum type="arabicPeriod" startAt="1"/>
            </a:pPr>
            <a:r>
              <a:rPr lang="en-US" sz="2000" dirty="0">
                <a:solidFill>
                  <a:srgbClr val="CADCFC"/>
                </a:solidFill>
              </a:rPr>
              <a:t>전문가 6~10명 내용타당도 평가</a:t>
            </a:r>
            <a:endParaRPr lang="en-US" sz="2000" dirty="0"/>
          </a:p>
          <a:p>
            <a:pPr marL="342900" indent="-342900">
              <a:spcAft>
                <a:spcPts val="800"/>
              </a:spcAft>
              <a:buSzPct val="100000"/>
              <a:buFont typeface="+mj-lt"/>
              <a:buAutoNum type="arabicPeriod" startAt="1"/>
            </a:pPr>
            <a:r>
              <a:rPr lang="en-US" sz="2000" dirty="0">
                <a:solidFill>
                  <a:srgbClr val="CADCFC"/>
                </a:solidFill>
              </a:rPr>
              <a:t>인지면담 → 예비조사(변별타당도 확인)</a:t>
            </a:r>
            <a:endParaRPr lang="en-US" sz="2000" dirty="0"/>
          </a:p>
          <a:p>
            <a:pPr marL="342900" indent="-342900">
              <a:spcAft>
                <a:spcPts val="800"/>
              </a:spcAft>
              <a:buSzPct val="100000"/>
              <a:buFont typeface="+mj-lt"/>
              <a:buAutoNum type="arabicPeriod" startAt="1"/>
            </a:pPr>
            <a:r>
              <a:rPr lang="en-US" sz="2000" dirty="0">
                <a:solidFill>
                  <a:srgbClr val="CADCFC"/>
                </a:solidFill>
              </a:rPr>
              <a:t>확정 문항을 BCMS 앱 설문으로 이관</a:t>
            </a:r>
            <a:endParaRPr lang="en-US" sz="2000" dirty="0"/>
          </a:p>
        </p:txBody>
      </p:sp>
    </p:spTree>
  </p:cSld>
  <p:clrMapOvr>
    <a:masterClrMapping/>
  </p:clrMapOvr>
</p:sld>
</file>

<file path=ppt/theme/theme1.xml><?xml version="1.0" encoding="utf-8"?>
<a:theme xmlns:a="http://schemas.openxmlformats.org/drawingml/2006/main" name="BCMS Relay">
  <a:themeElements>
    <a:clrScheme name="BCMS Relay">
      <a:dk1>
        <a:srgbClr val="1F2937"/>
      </a:dk1>
      <a:lt1>
        <a:srgbClr val="FFFFFF"/>
      </a:lt1>
      <a:dk2>
        <a:srgbClr val="14213D"/>
      </a:dk2>
      <a:lt2>
        <a:srgbClr val="F3F6FA"/>
      </a:lt2>
      <a:accent1>
        <a:srgbClr val="F26B38"/>
      </a:accent1>
      <a:accent2>
        <a:srgbClr val="1F6F8B"/>
      </a:accent2>
      <a:accent3>
        <a:srgbClr val="2E9E6B"/>
      </a:accent3>
      <a:accent4>
        <a:srgbClr val="E8A317"/>
      </a:accent4>
      <a:accent5>
        <a:srgbClr val="D64545"/>
      </a:accent5>
      <a:accent6>
        <a:srgbClr val="6B7A90"/>
      </a:accent6>
      <a:hlink>
        <a:srgbClr val="1F6F8B"/>
      </a:hlink>
      <a:folHlink>
        <a:srgbClr val="6B7A90"/>
      </a:folHlink>
    </a:clrScheme>
    <a:fontScheme name="BCMS Rela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BCMS 프로세스 연결 품질, 이야기로 이해하기 (V3)</dc:title>
  <dc:subject>PptxGenJS Presentation</dc:subject>
  <dc:creator>박사논문 프로젝트</dc:creator>
  <cp:lastModifiedBy>박사논문 프로젝트</cp:lastModifiedBy>
  <cp:revision>1</cp:revision>
  <dcterms:created xsi:type="dcterms:W3CDTF">2026-10-09T02:13:08Z</dcterms:created>
  <dcterms:modified xsi:type="dcterms:W3CDTF">2026-10-09T02:13:08Z</dcterms:modified>
</cp:coreProperties>
</file>