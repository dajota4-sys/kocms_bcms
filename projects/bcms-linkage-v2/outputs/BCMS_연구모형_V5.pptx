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 모형을 한 장으로 말씀드립니다. 독립 개념은 Arias의 22개 프로세스 사이의 연계성이고, 결과 개념은 조직회복탄력성입니다. 조직회복탄력성은 ORAS의 세 역량, 즉 예측과 사전대비, 대응과 흡수, 적응과 학습으로 측정합니다. 사전가설은 연계성이 높을수록 조직회복탄력성과 세 역량이 높다는 H1과 H1a에서 H1c입니다. 다만 횡단 자기보고 자료이므로 인과가 아니라 구조적 관련성으로 검증하며, ORAS 원저도 인과 관계를 확정할 수 없다고 밝힙니다. 출처: ORAS Domínguez-Ortega 외(2026) p.1, 6, 11, 16–17; 사전가설 도식은 연구자 제안.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892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1737360"/>
            <a:ext cx="10332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914400" y="365760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1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BCMS 연계성 연구 · 연구 모형 · V5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892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82296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029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</a:rPr>
              <a:t>연구 모형: 프로세스 연계성 → 조직회복탄력성(ORAS)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892B"/>
                </a:solidFill>
              </a:rPr>
              <a:t>연구 모형 (사전가설)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3154680"/>
            <a:ext cx="2514600" cy="123444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6D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154680"/>
            <a:ext cx="25146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재해경감활동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프로세스 연계성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Process Connectivity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1508760"/>
            <a:ext cx="2834640" cy="9601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E9B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1508760"/>
            <a:ext cx="28346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조직회복탄력성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</a:rPr>
              <a:t>Organizational Resilience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74920" y="2926080"/>
            <a:ext cx="2331720" cy="8686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DBB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Anticipation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예측·사전대비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74920" y="4069080"/>
            <a:ext cx="2331720" cy="8686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BA3B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74920" y="4069080"/>
            <a:ext cx="2331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Coping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대응·흡수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74920" y="5166360"/>
            <a:ext cx="2331720" cy="8686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E57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5166360"/>
            <a:ext cx="2331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Adaptation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적응·학습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 flipV="1">
            <a:off x="3017520" y="2103120"/>
            <a:ext cx="2148840" cy="1234440"/>
          </a:xfrm>
          <a:prstGeom prst="line">
            <a:avLst/>
          </a:prstGeom>
          <a:noFill/>
          <a:ln w="3492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383280" y="2148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H1 (+)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 flipV="1">
            <a:off x="3017520" y="3246120"/>
            <a:ext cx="2331720" cy="9144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017520" y="3749040"/>
            <a:ext cx="2331720" cy="73152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017520" y="3931920"/>
            <a:ext cx="2331720" cy="164592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4114800" y="3401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H1a (+)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3484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H1b (+)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91840" y="4663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H1c (+)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680960" y="2468880"/>
            <a:ext cx="0" cy="3108960"/>
          </a:xfrm>
          <a:prstGeom prst="line">
            <a:avLst/>
          </a:prstGeom>
          <a:noFill/>
          <a:ln w="22225">
            <a:solidFill>
              <a:srgbClr val="6B7A90"/>
            </a:solidFill>
            <a:prstDash val="sysDot"/>
          </a:ln>
        </p:spPr>
      </p:sp>
      <p:sp>
        <p:nvSpPr>
          <p:cNvPr id="24" name="Shape 21"/>
          <p:cNvSpPr/>
          <p:nvPr/>
        </p:nvSpPr>
        <p:spPr>
          <a:xfrm>
            <a:off x="7406640" y="3355848"/>
            <a:ext cx="274320" cy="0"/>
          </a:xfrm>
          <a:prstGeom prst="line">
            <a:avLst/>
          </a:prstGeom>
          <a:noFill/>
          <a:ln w="22225">
            <a:solidFill>
              <a:srgbClr val="6B7A90"/>
            </a:solidFill>
            <a:prstDash val="sysDot"/>
          </a:ln>
        </p:spPr>
      </p:sp>
      <p:sp>
        <p:nvSpPr>
          <p:cNvPr id="25" name="Shape 22"/>
          <p:cNvSpPr/>
          <p:nvPr/>
        </p:nvSpPr>
        <p:spPr>
          <a:xfrm>
            <a:off x="7406640" y="4498848"/>
            <a:ext cx="274320" cy="0"/>
          </a:xfrm>
          <a:prstGeom prst="line">
            <a:avLst/>
          </a:prstGeom>
          <a:noFill/>
          <a:ln w="22225">
            <a:solidFill>
              <a:srgbClr val="6B7A90"/>
            </a:solidFill>
            <a:prstDash val="sysDot"/>
          </a:ln>
        </p:spPr>
      </p:sp>
      <p:sp>
        <p:nvSpPr>
          <p:cNvPr id="26" name="Shape 23"/>
          <p:cNvSpPr/>
          <p:nvPr/>
        </p:nvSpPr>
        <p:spPr>
          <a:xfrm>
            <a:off x="7406640" y="5596128"/>
            <a:ext cx="274320" cy="0"/>
          </a:xfrm>
          <a:prstGeom prst="line">
            <a:avLst/>
          </a:prstGeom>
          <a:noFill/>
          <a:ln w="22225">
            <a:solidFill>
              <a:srgbClr val="6B7A90"/>
            </a:solidFill>
            <a:prstDash val="sysDot"/>
          </a:ln>
        </p:spPr>
      </p:sp>
      <p:sp>
        <p:nvSpPr>
          <p:cNvPr id="27" name="Shape 24"/>
          <p:cNvSpPr/>
          <p:nvPr/>
        </p:nvSpPr>
        <p:spPr>
          <a:xfrm>
            <a:off x="7406640" y="1993392"/>
            <a:ext cx="274320" cy="0"/>
          </a:xfrm>
          <a:prstGeom prst="line">
            <a:avLst/>
          </a:prstGeom>
          <a:noFill/>
          <a:ln w="22225">
            <a:solidFill>
              <a:srgbClr val="6B7A90"/>
            </a:solidFill>
            <a:prstDash val="sysDot"/>
          </a:ln>
        </p:spPr>
      </p:sp>
      <p:sp>
        <p:nvSpPr>
          <p:cNvPr id="28" name="Shape 25"/>
          <p:cNvSpPr/>
          <p:nvPr/>
        </p:nvSpPr>
        <p:spPr>
          <a:xfrm>
            <a:off x="7680960" y="1993392"/>
            <a:ext cx="0" cy="475488"/>
          </a:xfrm>
          <a:prstGeom prst="line">
            <a:avLst/>
          </a:prstGeom>
          <a:noFill/>
          <a:ln w="22225">
            <a:solidFill>
              <a:srgbClr val="6B7A90"/>
            </a:solidFill>
            <a:prstDash val="sysDot"/>
          </a:ln>
        </p:spPr>
      </p:sp>
      <p:sp>
        <p:nvSpPr>
          <p:cNvPr id="29" name="Text 26"/>
          <p:cNvSpPr/>
          <p:nvPr/>
        </p:nvSpPr>
        <p:spPr>
          <a:xfrm>
            <a:off x="777240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구성 역량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(ORAS)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5577840"/>
            <a:ext cx="3657600" cy="274320"/>
          </a:xfrm>
          <a:prstGeom prst="roundRect">
            <a:avLst>
              <a:gd name="adj" fmla="val 53333"/>
            </a:avLst>
          </a:prstGeom>
          <a:solidFill>
            <a:srgbClr val="E8892B"/>
          </a:solidFill>
          <a:ln w="6350">
            <a:solidFill>
              <a:srgbClr val="E88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사전가설 · 검증 예정 · 인과 아님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641080" y="1417320"/>
            <a:ext cx="2999232" cy="2514600"/>
          </a:xfrm>
          <a:prstGeom prst="rect">
            <a:avLst/>
          </a:prstGeom>
          <a:solidFill>
            <a:srgbClr val="F1F8F4"/>
          </a:solidFill>
          <a:ln w="9525">
            <a:solidFill>
              <a:srgbClr val="CBE6D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41080" y="1417320"/>
            <a:ext cx="82296" cy="2514600"/>
          </a:xfrm>
          <a:prstGeom prst="rect">
            <a:avLst/>
          </a:prstGeom>
          <a:solidFill>
            <a:srgbClr val="3E9B63"/>
          </a:solidFill>
          <a:ln w="12700">
            <a:solidFill>
              <a:srgbClr val="3E9B6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869680" y="148132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9B63"/>
                </a:solidFill>
              </a:rPr>
              <a:t>측정도구 ORAS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869680" y="1828800"/>
            <a:ext cx="2633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Domínguez-Ortega, Marynissen &amp; Errea Rodríguez(2026), JCCM 34:e70164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역량 3개(Anticipation·Coping·Adaptation) × 12문항 = 36문항 (p.6)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약 130개 응답 · 7개 조직군 (p.1)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각 역량 내부는 2하위요인 모형이 더 적합 (EFA·CFA, p.11)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8641080" y="4023360"/>
            <a:ext cx="2999232" cy="1920240"/>
          </a:xfrm>
          <a:prstGeom prst="rect">
            <a:avLst/>
          </a:prstGeom>
          <a:solidFill>
            <a:srgbClr val="FEF3E6"/>
          </a:solidFill>
          <a:ln w="9525">
            <a:solidFill>
              <a:srgbClr val="F5D3A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41080" y="4023360"/>
            <a:ext cx="82296" cy="1920240"/>
          </a:xfrm>
          <a:prstGeom prst="rect">
            <a:avLst/>
          </a:prstGeom>
          <a:solidFill>
            <a:srgbClr val="E8892B"/>
          </a:solidFill>
          <a:ln w="12700">
            <a:solidFill>
              <a:srgbClr val="E889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869680" y="407822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892B"/>
                </a:solidFill>
              </a:rPr>
              <a:t>주의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869680" y="4370832"/>
            <a:ext cx="26334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원저 한계: N=131, 인과관계 확정 불가 (p.16–17)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3역량을 묶은 상위요인 구조는 이 논문에서 확인하지 못함 → 상위요인 vs 개별 결과는 연구자 결정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한국어 적용 근거 필요 (원저 번역은 스페인어·네덜란드어)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48640" y="6053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출처  ORAS: Domínguez-Ortega, Marynissen &amp; Errea Rodríguez(2026), J. Contingencies &amp; Crisis Mgmt 34, e70164, doi:10.1111/1468-5973.70164 (인용 6개 PDF 문자열 대조 일치, p.1·6·11·16·17). 가설 H1–H1c와 도식은 연구자 사전가설. 검증: 측정모형 확정 → ORAS 한국어 적용·판별타당도 → SEM(Gate 5–7).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51052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CMS Story">
  <a:themeElements>
    <a:clrScheme name="BCMS Story">
      <a:dk1>
        <a:srgbClr val="1F2937"/>
      </a:dk1>
      <a:lt1>
        <a:srgbClr val="FFFFFF"/>
      </a:lt1>
      <a:dk2>
        <a:srgbClr val="14213D"/>
      </a:dk2>
      <a:lt2>
        <a:srgbClr val="F3F6FA"/>
      </a:lt2>
      <a:accent1>
        <a:srgbClr val="E8892B"/>
      </a:accent1>
      <a:accent2>
        <a:srgbClr val="2F6DB5"/>
      </a:accent2>
      <a:accent3>
        <a:srgbClr val="3E9B63"/>
      </a:accent3>
      <a:accent4>
        <a:srgbClr val="D6A21A"/>
      </a:accent4>
      <a:accent5>
        <a:srgbClr val="C0392B"/>
      </a:accent5>
      <a:accent6>
        <a:srgbClr val="6B7A90"/>
      </a:accent6>
      <a:hlink>
        <a:srgbClr val="2F6DB5"/>
      </a:hlink>
      <a:folHlink>
        <a:srgbClr val="6B7A90"/>
      </a:folHlink>
    </a:clrScheme>
    <a:fontScheme name="BCMS Story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BCMS 연계성 연구 모형 (V5)</dc:title>
  <dc:subject>PptxGenJS Presentation</dc:subject>
  <dc:creator>박사논문 프로젝트</dc:creator>
  <cp:lastModifiedBy>박사논문 프로젝트</cp:lastModifiedBy>
  <cp:revision>1</cp:revision>
  <dcterms:created xsi:type="dcterms:W3CDTF">2026-10-09T08:44:35Z</dcterms:created>
  <dcterms:modified xsi:type="dcterms:W3CDTF">2026-10-09T08:44:35Z</dcterms:modified>
</cp:coreProperties>
</file>